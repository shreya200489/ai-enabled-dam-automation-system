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2" r:id="rId1"/>
    <p:sldMasterId id="2147483664" r:id="rId2"/>
    <p:sldMasterId id="2147483671" r:id="rId3"/>
  </p:sldMasterIdLst>
  <p:notesMasterIdLst>
    <p:notesMasterId r:id="rId22"/>
  </p:notesMasterIdLst>
  <p:sldIdLst>
    <p:sldId id="284" r:id="rId4"/>
    <p:sldId id="263" r:id="rId5"/>
    <p:sldId id="282" r:id="rId6"/>
    <p:sldId id="259" r:id="rId7"/>
    <p:sldId id="290" r:id="rId8"/>
    <p:sldId id="260" r:id="rId9"/>
    <p:sldId id="278" r:id="rId10"/>
    <p:sldId id="281" r:id="rId11"/>
    <p:sldId id="262" r:id="rId12"/>
    <p:sldId id="279" r:id="rId13"/>
    <p:sldId id="289" r:id="rId14"/>
    <p:sldId id="291" r:id="rId15"/>
    <p:sldId id="264" r:id="rId16"/>
    <p:sldId id="285" r:id="rId17"/>
    <p:sldId id="277" r:id="rId18"/>
    <p:sldId id="280" r:id="rId19"/>
    <p:sldId id="288" r:id="rId20"/>
    <p:sldId id="276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3" orient="horz" pos="792" userDrawn="1">
          <p15:clr>
            <a:srgbClr val="A4A3A4"/>
          </p15:clr>
        </p15:guide>
        <p15:guide id="4" pos="288" userDrawn="1">
          <p15:clr>
            <a:srgbClr val="A4A3A4"/>
          </p15:clr>
        </p15:guide>
        <p15:guide id="5" orient="horz" pos="600" userDrawn="1">
          <p15:clr>
            <a:srgbClr val="A4A3A4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0000"/>
    <a:srgbClr val="E60000"/>
    <a:srgbClr val="FFF7F7"/>
    <a:srgbClr val="FFEFEF"/>
    <a:srgbClr val="FFC7C7"/>
    <a:srgbClr val="FF0000"/>
    <a:srgbClr val="F2B300"/>
    <a:srgbClr val="45CDD7"/>
    <a:srgbClr val="FF717F"/>
    <a:srgbClr val="FFBE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1AABC0-D4EF-F0A6-FDED-76C2404ED902}" v="213" dt="2026-02-07T09:17:48.993"/>
    <p1510:client id="{FA223C76-7826-CA52-19FD-FC4BC72CED7A}" v="32" dt="2026-02-07T08:16:20.742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8"/>
      </p:cViewPr>
      <p:guideLst>
        <p:guide orient="horz" pos="792"/>
        <p:guide pos="288"/>
        <p:guide orient="horz" pos="6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32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gathi Yuki" userId="c5c12112e684ca22" providerId="LiveId" clId="{5900BD98-CFE7-4E96-A27C-635FC8F72932}"/>
    <pc:docChg chg="custSel modSld">
      <pc:chgData name="Pragathi Yuki" userId="c5c12112e684ca22" providerId="LiveId" clId="{5900BD98-CFE7-4E96-A27C-635FC8F72932}" dt="2026-02-07T19:54:16.034" v="61" actId="1076"/>
      <pc:docMkLst>
        <pc:docMk/>
      </pc:docMkLst>
      <pc:sldChg chg="addSp delSp modSp mod">
        <pc:chgData name="Pragathi Yuki" userId="c5c12112e684ca22" providerId="LiveId" clId="{5900BD98-CFE7-4E96-A27C-635FC8F72932}" dt="2026-02-07T19:54:16.034" v="61" actId="1076"/>
        <pc:sldMkLst>
          <pc:docMk/>
          <pc:sldMk cId="306369453" sldId="288"/>
        </pc:sldMkLst>
        <pc:spChg chg="del">
          <ac:chgData name="Pragathi Yuki" userId="c5c12112e684ca22" providerId="LiveId" clId="{5900BD98-CFE7-4E96-A27C-635FC8F72932}" dt="2026-02-07T19:52:37.916" v="56" actId="478"/>
          <ac:spMkLst>
            <pc:docMk/>
            <pc:sldMk cId="306369453" sldId="288"/>
            <ac:spMk id="12" creationId="{F9475123-348B-09F4-6C80-99FD2584D366}"/>
          </ac:spMkLst>
        </pc:spChg>
        <pc:graphicFrameChg chg="modGraphic">
          <ac:chgData name="Pragathi Yuki" userId="c5c12112e684ca22" providerId="LiveId" clId="{5900BD98-CFE7-4E96-A27C-635FC8F72932}" dt="2026-02-07T19:52:06.585" v="55" actId="20577"/>
          <ac:graphicFrameMkLst>
            <pc:docMk/>
            <pc:sldMk cId="306369453" sldId="288"/>
            <ac:graphicFrameMk id="4" creationId="{E70FD0F6-17FE-ABF1-7D8E-4A204CDDEEB6}"/>
          </ac:graphicFrameMkLst>
        </pc:graphicFrameChg>
        <pc:picChg chg="add mod">
          <ac:chgData name="Pragathi Yuki" userId="c5c12112e684ca22" providerId="LiveId" clId="{5900BD98-CFE7-4E96-A27C-635FC8F72932}" dt="2026-02-07T19:54:16.034" v="61" actId="1076"/>
          <ac:picMkLst>
            <pc:docMk/>
            <pc:sldMk cId="306369453" sldId="288"/>
            <ac:picMk id="11" creationId="{35BEB4F3-CBD6-F939-961C-7BB8923A480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FD56D297-AAEA-3A7B-8DD8-63F90FEA6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F2C60221-833B-03A6-9A85-155C1C1A8F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91CD7D18-30BF-66B9-16FE-3E743CE87C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67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151880CA-7D91-EB2D-F062-3417EA50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F844D651-0E22-11B7-3E49-93D0C466D1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B572D276-D162-44D3-1311-94BF994A7F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091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F43CDD6-4336-1DF1-F99F-2B07D4C09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BDEE244C-5170-C17A-F5CF-6B51761A2A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4FAD918F-EAB3-8C07-48A6-0667672175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1756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858C15A-21E5-D0B4-5C72-89C04CF61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0249CF2E-B3CE-50FC-0E58-1811FDF49B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6B717691-3C24-0380-C63D-D036EE324A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358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929A6DC-B367-28E0-7428-54B20F039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D26A00-5187-365A-A052-1494FDEB8D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734AEEA7-AB52-2AAE-822D-5AA44837B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657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22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475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099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65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16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9624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9725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223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853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0284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62" r:id="rId3"/>
    <p:sldLayoutId id="214748366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668DB97-BE7C-D925-30FD-9C50B3816BC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77440" y="428"/>
            <a:ext cx="12346881" cy="694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79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AC8B568-3D3C-3E86-5500-B520D98306F0}"/>
              </a:ext>
            </a:extLst>
          </p:cNvPr>
          <p:cNvGrpSpPr/>
          <p:nvPr userDrawn="1"/>
        </p:nvGrpSpPr>
        <p:grpSpPr>
          <a:xfrm>
            <a:off x="0" y="6651168"/>
            <a:ext cx="12670971" cy="435429"/>
            <a:chOff x="0" y="6651168"/>
            <a:chExt cx="12670971" cy="435429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BD5555CE-25B3-CABF-D580-C0F88491BEFE}"/>
                </a:ext>
              </a:extLst>
            </p:cNvPr>
            <p:cNvSpPr/>
            <p:nvPr userDrawn="1"/>
          </p:nvSpPr>
          <p:spPr>
            <a:xfrm flipH="1" flipV="1">
              <a:off x="5519057" y="6651712"/>
              <a:ext cx="7151914" cy="434885"/>
            </a:xfrm>
            <a:custGeom>
              <a:avLst/>
              <a:gdLst/>
              <a:ahLst/>
              <a:cxnLst/>
              <a:rect l="l" t="t" r="r" b="b"/>
              <a:pathLst>
                <a:path w="7315200" h="1024128">
                  <a:moveTo>
                    <a:pt x="0" y="0"/>
                  </a:moveTo>
                  <a:lnTo>
                    <a:pt x="7315200" y="0"/>
                  </a:lnTo>
                  <a:lnTo>
                    <a:pt x="7315200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2284" t="-135494" r="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7572DB9-8AEB-605A-8F56-BC9A0CE87D27}"/>
                </a:ext>
              </a:extLst>
            </p:cNvPr>
            <p:cNvSpPr/>
            <p:nvPr userDrawn="1"/>
          </p:nvSpPr>
          <p:spPr>
            <a:xfrm>
              <a:off x="0" y="6651168"/>
              <a:ext cx="5627915" cy="402771"/>
            </a:xfrm>
            <a:prstGeom prst="rect">
              <a:avLst/>
            </a:prstGeom>
            <a:solidFill>
              <a:srgbClr val="5B00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A17CC75-0266-7826-42A2-A3B90927FA5D}"/>
              </a:ext>
            </a:extLst>
          </p:cNvPr>
          <p:cNvGrpSpPr/>
          <p:nvPr userDrawn="1"/>
        </p:nvGrpSpPr>
        <p:grpSpPr>
          <a:xfrm>
            <a:off x="-622201" y="-10886"/>
            <a:ext cx="12901287" cy="404184"/>
            <a:chOff x="-622201" y="-10886"/>
            <a:chExt cx="12901287" cy="404184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0F4394B1-42DA-2076-40EA-F5DB6481935B}"/>
                </a:ext>
              </a:extLst>
            </p:cNvPr>
            <p:cNvSpPr/>
            <p:nvPr userDrawn="1"/>
          </p:nvSpPr>
          <p:spPr>
            <a:xfrm>
              <a:off x="-622201" y="-1"/>
              <a:ext cx="7315200" cy="393299"/>
            </a:xfrm>
            <a:custGeom>
              <a:avLst/>
              <a:gdLst/>
              <a:ahLst/>
              <a:cxnLst/>
              <a:rect l="l" t="t" r="r" b="b"/>
              <a:pathLst>
                <a:path w="7315200" h="1024128">
                  <a:moveTo>
                    <a:pt x="0" y="0"/>
                  </a:moveTo>
                  <a:lnTo>
                    <a:pt x="7315200" y="0"/>
                  </a:lnTo>
                  <a:lnTo>
                    <a:pt x="7315200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1603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55157E1-0A45-B6AC-0EBB-7A01A63B633F}"/>
                </a:ext>
              </a:extLst>
            </p:cNvPr>
            <p:cNvSpPr/>
            <p:nvPr userDrawn="1"/>
          </p:nvSpPr>
          <p:spPr>
            <a:xfrm>
              <a:off x="6651171" y="-10886"/>
              <a:ext cx="5627915" cy="402771"/>
            </a:xfrm>
            <a:prstGeom prst="rect">
              <a:avLst/>
            </a:prstGeom>
            <a:solidFill>
              <a:srgbClr val="5B00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698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1" r:id="rId2"/>
    <p:sldLayoutId id="214748368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e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REYA200489/AI-ENABLED-DAM-AUTOMATION-SYSTEM.git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23A3F-BF7F-A63E-DFF9-0FA766AE6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FF2B5EF4-FFF2-40B4-BE49-F238E27FC236}">
                <a16:creationId xmlns:a16="http://schemas.microsoft.com/office/drawing/2014/main" id="{9C9EC1E8-50F0-594B-D72F-7FE53C0D51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157C48A1-958B-BDC8-8917-A1E7E9F32B25}"/>
              </a:ext>
            </a:extLst>
          </p:cNvPr>
          <p:cNvSpPr/>
          <p:nvPr/>
        </p:nvSpPr>
        <p:spPr>
          <a:xfrm>
            <a:off x="2705101" y="38101"/>
            <a:ext cx="6781799" cy="6781799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729495-97AF-FD52-3AB0-5D2450DBA74B}"/>
              </a:ext>
            </a:extLst>
          </p:cNvPr>
          <p:cNvSpPr txBox="1">
            <a:spLocks/>
          </p:cNvSpPr>
          <p:nvPr/>
        </p:nvSpPr>
        <p:spPr>
          <a:xfrm>
            <a:off x="2362200" y="1905341"/>
            <a:ext cx="7467600" cy="243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6600" b="1">
                <a:solidFill>
                  <a:schemeClr val="bg1"/>
                </a:solidFill>
                <a:latin typeface="Vodafone Rg" panose="020B0606080202020204" pitchFamily="34" charset="0"/>
                <a:cs typeface="Calibri" panose="020F0502020204030204" pitchFamily="34" charset="0"/>
              </a:rPr>
              <a:t>VOIS Innovation </a:t>
            </a:r>
          </a:p>
          <a:p>
            <a:pPr algn="ctr"/>
            <a:r>
              <a:rPr lang="en-US" sz="6600" b="1">
                <a:solidFill>
                  <a:schemeClr val="bg1"/>
                </a:solidFill>
                <a:latin typeface="Vodafone Rg" panose="020B0606080202020204" pitchFamily="34" charset="0"/>
                <a:cs typeface="Calibri" panose="020F0502020204030204" pitchFamily="34" charset="0"/>
              </a:rPr>
              <a:t>Marathon 2.0 </a:t>
            </a:r>
            <a:endParaRPr lang="en-IN">
              <a:solidFill>
                <a:schemeClr val="bg1"/>
              </a:solidFill>
              <a:latin typeface="Vodafone Rg" panose="020B060608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3901539B-3E4F-88C2-6ABE-7F68AE084607}"/>
              </a:ext>
            </a:extLst>
          </p:cNvPr>
          <p:cNvSpPr/>
          <p:nvPr/>
        </p:nvSpPr>
        <p:spPr>
          <a:xfrm>
            <a:off x="292748" y="197497"/>
            <a:ext cx="1753766" cy="574358"/>
          </a:xfrm>
          <a:custGeom>
            <a:avLst/>
            <a:gdLst/>
            <a:ahLst/>
            <a:cxnLst/>
            <a:rect l="l" t="t" r="r" b="b"/>
            <a:pathLst>
              <a:path w="2720172" h="890856">
                <a:moveTo>
                  <a:pt x="0" y="0"/>
                </a:moveTo>
                <a:lnTo>
                  <a:pt x="2720172" y="0"/>
                </a:lnTo>
                <a:lnTo>
                  <a:pt x="2720172" y="890856"/>
                </a:lnTo>
                <a:lnTo>
                  <a:pt x="0" y="8908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29E9B9AF-6FE0-E406-C2CD-90613301085C}"/>
              </a:ext>
            </a:extLst>
          </p:cNvPr>
          <p:cNvSpPr/>
          <p:nvPr/>
        </p:nvSpPr>
        <p:spPr>
          <a:xfrm flipH="1">
            <a:off x="10122548" y="6032241"/>
            <a:ext cx="1753766" cy="574358"/>
          </a:xfrm>
          <a:custGeom>
            <a:avLst/>
            <a:gdLst/>
            <a:ahLst/>
            <a:cxnLst/>
            <a:rect l="l" t="t" r="r" b="b"/>
            <a:pathLst>
              <a:path w="2720172" h="890856">
                <a:moveTo>
                  <a:pt x="0" y="0"/>
                </a:moveTo>
                <a:lnTo>
                  <a:pt x="2720172" y="0"/>
                </a:lnTo>
                <a:lnTo>
                  <a:pt x="2720172" y="890856"/>
                </a:lnTo>
                <a:lnTo>
                  <a:pt x="0" y="8908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114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21C18-6BF5-B97D-EE64-7FCF0E490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C642-43AC-4A20-252B-6E329095AC9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88717" y="795744"/>
            <a:ext cx="5166643" cy="12464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3000" b="1" dirty="0">
                <a:solidFill>
                  <a:srgbClr val="A20000"/>
                </a:solidFill>
                <a:latin typeface="Vodafone Rg"/>
              </a:rPr>
              <a:t>Project Title :  </a:t>
            </a:r>
            <a:br>
              <a:rPr lang="en-US" sz="3000" b="1" dirty="0">
                <a:solidFill>
                  <a:srgbClr val="A20000"/>
                </a:solidFill>
                <a:latin typeface="Vodafone Rg"/>
              </a:rPr>
            </a:br>
            <a:r>
              <a:rPr lang="en-US" sz="3000" b="1" dirty="0">
                <a:solidFill>
                  <a:srgbClr val="A20000"/>
                </a:solidFill>
                <a:latin typeface="Vodafone Rg"/>
              </a:rPr>
              <a:t>AI ENABLED DAM                        AUTOMATION SYSTEM        </a:t>
            </a:r>
            <a:endParaRPr lang="en-US" sz="3000" b="1" dirty="0">
              <a:solidFill>
                <a:srgbClr val="A20000"/>
              </a:solidFill>
              <a:latin typeface="Vodafone Rg" panose="020B060608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6CCB1A2-324D-F7D1-2DFF-C45E68B6E542}"/>
              </a:ext>
            </a:extLst>
          </p:cNvPr>
          <p:cNvGrpSpPr/>
          <p:nvPr/>
        </p:nvGrpSpPr>
        <p:grpSpPr>
          <a:xfrm>
            <a:off x="1307097" y="2884713"/>
            <a:ext cx="3995057" cy="544287"/>
            <a:chOff x="1273629" y="1436913"/>
            <a:chExt cx="3995057" cy="544287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3C5427B-5584-42AA-BCBF-190F3341B904}"/>
                </a:ext>
              </a:extLst>
            </p:cNvPr>
            <p:cNvSpPr/>
            <p:nvPr/>
          </p:nvSpPr>
          <p:spPr>
            <a:xfrm>
              <a:off x="1273629" y="1436913"/>
              <a:ext cx="3995057" cy="544287"/>
            </a:xfrm>
            <a:prstGeom prst="roundRect">
              <a:avLst/>
            </a:prstGeom>
            <a:solidFill>
              <a:srgbClr val="F5CB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26BBA8-58B8-3AFD-F121-AED51A095207}"/>
                </a:ext>
              </a:extLst>
            </p:cNvPr>
            <p:cNvSpPr txBox="1"/>
            <p:nvPr/>
          </p:nvSpPr>
          <p:spPr>
            <a:xfrm>
              <a:off x="1790700" y="1539779"/>
              <a:ext cx="2960914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Team No 28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B53CC7B-51F3-AF5B-5DAC-EE3E535ABF34}"/>
              </a:ext>
            </a:extLst>
          </p:cNvPr>
          <p:cNvGrpSpPr/>
          <p:nvPr/>
        </p:nvGrpSpPr>
        <p:grpSpPr>
          <a:xfrm>
            <a:off x="1415845" y="5517968"/>
            <a:ext cx="3995057" cy="995988"/>
            <a:chOff x="1273629" y="1436913"/>
            <a:chExt cx="3995057" cy="620966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2B059A2-5AB7-4E51-27BD-E7AB5C0CA496}"/>
                </a:ext>
              </a:extLst>
            </p:cNvPr>
            <p:cNvSpPr/>
            <p:nvPr/>
          </p:nvSpPr>
          <p:spPr>
            <a:xfrm>
              <a:off x="1273629" y="1436913"/>
              <a:ext cx="3995057" cy="544287"/>
            </a:xfrm>
            <a:prstGeom prst="roundRect">
              <a:avLst/>
            </a:prstGeom>
            <a:solidFill>
              <a:srgbClr val="F5CB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71524BB-4EBD-652C-8DAB-09CCCEED5D51}"/>
                </a:ext>
              </a:extLst>
            </p:cNvPr>
            <p:cNvSpPr txBox="1"/>
            <p:nvPr/>
          </p:nvSpPr>
          <p:spPr>
            <a:xfrm>
              <a:off x="1790700" y="1539779"/>
              <a:ext cx="2960914" cy="51810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College Name  </a:t>
              </a:r>
            </a:p>
            <a:p>
              <a:pPr algn="ctr"/>
              <a:r>
                <a:rPr lang="en-US" sz="1200" b="1" dirty="0" err="1">
                  <a:solidFill>
                    <a:schemeClr val="tx1"/>
                  </a:solidFill>
                </a:rPr>
                <a:t>Sambhram</a:t>
              </a:r>
              <a:r>
                <a:rPr lang="en-US" sz="1200" b="1" dirty="0">
                  <a:solidFill>
                    <a:schemeClr val="tx1"/>
                  </a:solidFill>
                </a:rPr>
                <a:t> Institute of Technology,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Bangalore</a:t>
              </a:r>
            </a:p>
            <a:p>
              <a:pPr algn="ctr"/>
              <a:endParaRPr lang="en-US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2D94EAD-4CE1-0423-E85F-A37A9C832D6F}"/>
              </a:ext>
            </a:extLst>
          </p:cNvPr>
          <p:cNvSpPr/>
          <p:nvPr/>
        </p:nvSpPr>
        <p:spPr>
          <a:xfrm>
            <a:off x="7787148" y="2655859"/>
            <a:ext cx="2349910" cy="893378"/>
          </a:xfrm>
          <a:prstGeom prst="roundRect">
            <a:avLst>
              <a:gd name="adj" fmla="val 11836"/>
            </a:avLst>
          </a:prstGeom>
          <a:solidFill>
            <a:srgbClr val="F5CB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61E9DB2-5CD7-D546-D014-634E42A4AE1E}"/>
              </a:ext>
            </a:extLst>
          </p:cNvPr>
          <p:cNvSpPr/>
          <p:nvPr/>
        </p:nvSpPr>
        <p:spPr>
          <a:xfrm>
            <a:off x="7078145" y="3732411"/>
            <a:ext cx="1774372" cy="1557344"/>
          </a:xfrm>
          <a:prstGeom prst="roundRect">
            <a:avLst>
              <a:gd name="adj" fmla="val 8078"/>
            </a:avLst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Insert your professional photo</a:t>
            </a:r>
            <a:endParaRPr lang="en-IN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EE73ADA-1A54-DFB3-02B3-2903F3C229A1}"/>
              </a:ext>
            </a:extLst>
          </p:cNvPr>
          <p:cNvGrpSpPr/>
          <p:nvPr/>
        </p:nvGrpSpPr>
        <p:grpSpPr>
          <a:xfrm>
            <a:off x="7073201" y="5564337"/>
            <a:ext cx="1696956" cy="826631"/>
            <a:chOff x="7295744" y="4938409"/>
            <a:chExt cx="1605064" cy="486383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9AC5669-EFCD-F6C2-F878-2812D968D7C1}"/>
                </a:ext>
              </a:extLst>
            </p:cNvPr>
            <p:cNvSpPr/>
            <p:nvPr/>
          </p:nvSpPr>
          <p:spPr>
            <a:xfrm>
              <a:off x="7295744" y="4938409"/>
              <a:ext cx="1605063" cy="486383"/>
            </a:xfrm>
            <a:prstGeom prst="roundRect">
              <a:avLst>
                <a:gd name="adj" fmla="val 11836"/>
              </a:avLst>
            </a:prstGeom>
            <a:solidFill>
              <a:srgbClr val="F5CB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3CBB397-5042-E6EC-C8B7-72C2D67E6F17}"/>
                </a:ext>
              </a:extLst>
            </p:cNvPr>
            <p:cNvSpPr txBox="1"/>
            <p:nvPr/>
          </p:nvSpPr>
          <p:spPr>
            <a:xfrm>
              <a:off x="7368970" y="5012323"/>
              <a:ext cx="1531838" cy="344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RAKSHITHA G    ECE</a:t>
              </a:r>
            </a:p>
          </p:txBody>
        </p:sp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372592E-20CD-EA88-F73F-293563117D02}"/>
              </a:ext>
            </a:extLst>
          </p:cNvPr>
          <p:cNvSpPr/>
          <p:nvPr/>
        </p:nvSpPr>
        <p:spPr>
          <a:xfrm>
            <a:off x="9247251" y="3732411"/>
            <a:ext cx="1774372" cy="1557344"/>
          </a:xfrm>
          <a:prstGeom prst="roundRect">
            <a:avLst>
              <a:gd name="adj" fmla="val 8078"/>
            </a:avLst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9A0ED5C-4294-9DED-35D1-ADB332624E97}"/>
              </a:ext>
            </a:extLst>
          </p:cNvPr>
          <p:cNvGrpSpPr/>
          <p:nvPr/>
        </p:nvGrpSpPr>
        <p:grpSpPr>
          <a:xfrm>
            <a:off x="9374220" y="5564337"/>
            <a:ext cx="1647403" cy="826631"/>
            <a:chOff x="7295744" y="4938409"/>
            <a:chExt cx="1647403" cy="486383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8ACFAE00-7A83-9B8F-12D5-4B2385335898}"/>
                </a:ext>
              </a:extLst>
            </p:cNvPr>
            <p:cNvSpPr/>
            <p:nvPr/>
          </p:nvSpPr>
          <p:spPr>
            <a:xfrm>
              <a:off x="7295744" y="4938409"/>
              <a:ext cx="1605063" cy="486383"/>
            </a:xfrm>
            <a:prstGeom prst="roundRect">
              <a:avLst>
                <a:gd name="adj" fmla="val 11836"/>
              </a:avLst>
            </a:prstGeom>
            <a:solidFill>
              <a:srgbClr val="F5CB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7DF3CD4-B7BA-8258-4634-2E9E4FBA076D}"/>
                </a:ext>
              </a:extLst>
            </p:cNvPr>
            <p:cNvSpPr txBox="1"/>
            <p:nvPr/>
          </p:nvSpPr>
          <p:spPr>
            <a:xfrm>
              <a:off x="7295744" y="5012323"/>
              <a:ext cx="1647403" cy="344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SPURTHI N</a:t>
              </a:r>
            </a:p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ECE</a:t>
              </a: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EEB570D-D8AD-50CF-8C3D-5D2236587FF1}"/>
              </a:ext>
            </a:extLst>
          </p:cNvPr>
          <p:cNvSpPr/>
          <p:nvPr/>
        </p:nvSpPr>
        <p:spPr>
          <a:xfrm>
            <a:off x="8108455" y="823932"/>
            <a:ext cx="1774372" cy="1655928"/>
          </a:xfrm>
          <a:prstGeom prst="roundRect">
            <a:avLst>
              <a:gd name="adj" fmla="val 8078"/>
            </a:avLst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BAC01B-C328-159F-38B9-E1997F62DF98}"/>
              </a:ext>
            </a:extLst>
          </p:cNvPr>
          <p:cNvSpPr txBox="1"/>
          <p:nvPr/>
        </p:nvSpPr>
        <p:spPr>
          <a:xfrm>
            <a:off x="7580671" y="2655859"/>
            <a:ext cx="2787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TEAM LEAD</a:t>
            </a:r>
          </a:p>
          <a:p>
            <a:pPr algn="ctr"/>
            <a:r>
              <a:rPr lang="en-GB" sz="1600" b="1" dirty="0"/>
              <a:t>SHREYA GALI</a:t>
            </a:r>
          </a:p>
          <a:p>
            <a:pPr algn="ctr"/>
            <a:r>
              <a:rPr lang="en-GB" sz="1600" b="1" dirty="0"/>
              <a:t>ECE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9BEC352-63D2-5891-C159-45C81A80D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659" y="3732412"/>
            <a:ext cx="2248359" cy="16692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174EE3B-E2DE-5597-F050-69B438D6F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4012" y="861851"/>
            <a:ext cx="1583258" cy="154845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7FC5A91-FE22-CA63-C9FE-60F5833C2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9" y="3794791"/>
            <a:ext cx="1619537" cy="141630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2E57FD1-85E1-2C9F-F832-A739716DA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7978" y="3794790"/>
            <a:ext cx="1652918" cy="141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133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F609697-D49F-A4FB-049E-97EE321D4CA6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5660571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23F754-AA75-3CB1-B40E-AB2BFB636220}"/>
              </a:ext>
            </a:extLst>
          </p:cNvPr>
          <p:cNvSpPr txBox="1"/>
          <p:nvPr/>
        </p:nvSpPr>
        <p:spPr>
          <a:xfrm>
            <a:off x="357824" y="1044053"/>
            <a:ext cx="7665298" cy="4992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800" dirty="0"/>
              <a:t>Dams are essential for water storage, flood control, irrigation, and power generation.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800" dirty="0"/>
              <a:t>Most dams still operate using manual control and fixed rules.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800" dirty="0"/>
              <a:t>Such systems cannot respond quickly to sudden rainfall, inflow, or climate changes.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800" dirty="0"/>
              <a:t>This leads to flood risks, water wastage, structural stress, and human error.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800" dirty="0"/>
              <a:t>There is a need for an AI-based automated dam system to predict inflow and control gates safely.</a:t>
            </a:r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7853894-3A56-5D0E-024A-F2247ECFFC74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5660571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Need of Project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280D32-BBD6-4E5A-58BD-53F293645804}"/>
              </a:ext>
            </a:extLst>
          </p:cNvPr>
          <p:cNvSpPr txBox="1"/>
          <p:nvPr/>
        </p:nvSpPr>
        <p:spPr>
          <a:xfrm>
            <a:off x="446316" y="1288026"/>
            <a:ext cx="7124523" cy="3330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sz="1800" dirty="0"/>
              <a:t>The need for this project arises due to: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800" dirty="0"/>
              <a:t> Increasing dam failures and flood disasters.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800" dirty="0"/>
              <a:t> Requirement for continuous real-time surveillance.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800" dirty="0"/>
              <a:t> Rising demand for water security and public safety.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800" dirty="0"/>
              <a:t> Need to reduce manual </a:t>
            </a:r>
            <a:r>
              <a:rPr lang="en-GB" sz="1800" dirty="0" err="1"/>
              <a:t>labor</a:t>
            </a:r>
            <a:r>
              <a:rPr lang="en-GB" sz="1800" dirty="0"/>
              <a:t> and maintenance cost.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800" dirty="0"/>
              <a:t> Requirement for early crack detection and intrusion alerts.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E5393D-C2B3-7EE9-9E9B-4B48F955C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309" y="1044053"/>
            <a:ext cx="3216603" cy="37362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54DAA0B5-D49D-D971-A0D4-0A4C28AE5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883974E-C694-F06D-D690-8C30026F7356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5660571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Proposed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168122-AE3A-A450-95BB-6997399244D9}"/>
              </a:ext>
            </a:extLst>
          </p:cNvPr>
          <p:cNvSpPr txBox="1"/>
          <p:nvPr/>
        </p:nvSpPr>
        <p:spPr>
          <a:xfrm>
            <a:off x="446315" y="1236273"/>
            <a:ext cx="7773453" cy="378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AI-based Crack &amp; Human Detection: YOLOv5 deep learning model analyzes camera images to detect cracks on dam surfaces and unauthorized human presence.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IoT Sensor Monitoring: Sensors continuously monitor water level, rainfall, pH, and turbidity.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Automated Gate Control: Dam gates are operated automatically based on water level and rainfall conditions.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Alert&amp; Notification System: Emergency alerts are sent via buzzer, LCD, and IoT dash boards.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B76FB8-C26A-BD27-B8B3-97EE69998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2218" y="1751059"/>
            <a:ext cx="2915265" cy="275095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820984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8CDC953-2B84-68FE-7DE5-8D086B35CDF6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5660571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Solution Overview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E96BEB-707C-DAF9-0880-7C03FE0B7949}"/>
              </a:ext>
            </a:extLst>
          </p:cNvPr>
          <p:cNvSpPr txBox="1"/>
          <p:nvPr/>
        </p:nvSpPr>
        <p:spPr>
          <a:xfrm>
            <a:off x="446315" y="1288026"/>
            <a:ext cx="8284730" cy="378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800" dirty="0"/>
              <a:t>Intelligent Monitoring &amp; Detection : Uses IoT sensors and AI (YOLOv5) to continuously monitor water level, rainfall, water quality, structural cracks, and human intrusion in real time.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800" dirty="0"/>
              <a:t>Automated Decision &amp; Control : A central controller (ESP32) </a:t>
            </a:r>
            <a:r>
              <a:rPr lang="en-GB" sz="1800" dirty="0" err="1"/>
              <a:t>analyze</a:t>
            </a:r>
            <a:r>
              <a:rPr lang="en-GB" sz="1800" dirty="0"/>
              <a:t> sensor data and automatically operates dam gates using servo motors to regulate water flow and prevent flooding or structural stress.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800" dirty="0"/>
              <a:t>Alerting &amp; Preventive Safety System : Provides early warnings through LCD, buzzer, and IoT dashboards, transforming dam management from manual and reactive to predictive, automated, and safer.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7FCB28-836D-8BB8-8DF2-FE477873FAEB}"/>
              </a:ext>
            </a:extLst>
          </p:cNvPr>
          <p:cNvSpPr txBox="1">
            <a:spLocks/>
          </p:cNvSpPr>
          <p:nvPr/>
        </p:nvSpPr>
        <p:spPr>
          <a:xfrm>
            <a:off x="454941" y="531164"/>
            <a:ext cx="8011885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Technology used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FEB5405-9A31-1486-91F5-C7BBEA611907}"/>
              </a:ext>
            </a:extLst>
          </p:cNvPr>
          <p:cNvGrpSpPr/>
          <p:nvPr/>
        </p:nvGrpSpPr>
        <p:grpSpPr>
          <a:xfrm>
            <a:off x="454940" y="1355623"/>
            <a:ext cx="7155228" cy="3806312"/>
            <a:chOff x="734784" y="1349834"/>
            <a:chExt cx="6297386" cy="391846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C84E941-566A-01D9-694F-1E6A94DCBE3A}"/>
                </a:ext>
              </a:extLst>
            </p:cNvPr>
            <p:cNvSpPr txBox="1"/>
            <p:nvPr/>
          </p:nvSpPr>
          <p:spPr>
            <a:xfrm>
              <a:off x="1643742" y="1664712"/>
              <a:ext cx="44522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IoT Sensors</a:t>
              </a:r>
              <a:r>
                <a:rPr lang="en-GB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– Real-time data monitoring</a:t>
              </a:r>
              <a:endParaRPr 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BED06D0-D576-04D7-8A6A-59FFC1A77774}"/>
                </a:ext>
              </a:extLst>
            </p:cNvPr>
            <p:cNvSpPr/>
            <p:nvPr/>
          </p:nvSpPr>
          <p:spPr>
            <a:xfrm rot="5400000">
              <a:off x="688294" y="1396325"/>
              <a:ext cx="936171" cy="843190"/>
            </a:xfrm>
            <a:custGeom>
              <a:avLst/>
              <a:gdLst/>
              <a:ahLst/>
              <a:cxnLst/>
              <a:rect l="l" t="t" r="r" b="b"/>
              <a:pathLst>
                <a:path w="1527620" h="4114800">
                  <a:moveTo>
                    <a:pt x="0" y="0"/>
                  </a:moveTo>
                  <a:lnTo>
                    <a:pt x="1527619" y="0"/>
                  </a:lnTo>
                  <a:lnTo>
                    <a:pt x="152761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12328" r="-128568" b="-5466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8306874-9D27-72C4-3E5C-C89E3D830C42}"/>
                </a:ext>
              </a:extLst>
            </p:cNvPr>
            <p:cNvSpPr txBox="1"/>
            <p:nvPr/>
          </p:nvSpPr>
          <p:spPr>
            <a:xfrm>
              <a:off x="1632855" y="2471060"/>
              <a:ext cx="53993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AI &amp; YOLOv5 </a:t>
              </a:r>
              <a:r>
                <a:rPr lang="en-GB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– Crack and human detection</a:t>
              </a:r>
              <a:endParaRPr 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2FE0FB3-8D2C-2324-E161-4A103A0228AE}"/>
                </a:ext>
              </a:extLst>
            </p:cNvPr>
            <p:cNvSpPr/>
            <p:nvPr/>
          </p:nvSpPr>
          <p:spPr>
            <a:xfrm rot="5400000">
              <a:off x="688294" y="2207311"/>
              <a:ext cx="936171" cy="843190"/>
            </a:xfrm>
            <a:custGeom>
              <a:avLst/>
              <a:gdLst/>
              <a:ahLst/>
              <a:cxnLst/>
              <a:rect l="l" t="t" r="r" b="b"/>
              <a:pathLst>
                <a:path w="1527620" h="4114800">
                  <a:moveTo>
                    <a:pt x="0" y="0"/>
                  </a:moveTo>
                  <a:lnTo>
                    <a:pt x="1527619" y="0"/>
                  </a:lnTo>
                  <a:lnTo>
                    <a:pt x="152761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12328" r="-128568" b="-546691"/>
              </a:stretch>
            </a:blip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B024B58D-1C2C-B49A-D9A6-5DE565BCFE94}"/>
                </a:ext>
              </a:extLst>
            </p:cNvPr>
            <p:cNvSpPr/>
            <p:nvPr/>
          </p:nvSpPr>
          <p:spPr>
            <a:xfrm rot="5400000">
              <a:off x="688294" y="3018297"/>
              <a:ext cx="936171" cy="843190"/>
            </a:xfrm>
            <a:custGeom>
              <a:avLst/>
              <a:gdLst/>
              <a:ahLst/>
              <a:cxnLst/>
              <a:rect l="l" t="t" r="r" b="b"/>
              <a:pathLst>
                <a:path w="1527620" h="4114800">
                  <a:moveTo>
                    <a:pt x="0" y="0"/>
                  </a:moveTo>
                  <a:lnTo>
                    <a:pt x="1527619" y="0"/>
                  </a:lnTo>
                  <a:lnTo>
                    <a:pt x="152761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12328" r="-128568" b="-546691"/>
              </a:stretch>
            </a:blip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B75F5EC-8B32-E4EC-478E-DB3BC6715FF7}"/>
                </a:ext>
              </a:extLst>
            </p:cNvPr>
            <p:cNvSpPr/>
            <p:nvPr/>
          </p:nvSpPr>
          <p:spPr>
            <a:xfrm rot="5400000">
              <a:off x="688293" y="3848187"/>
              <a:ext cx="936171" cy="843190"/>
            </a:xfrm>
            <a:custGeom>
              <a:avLst/>
              <a:gdLst/>
              <a:ahLst/>
              <a:cxnLst/>
              <a:rect l="l" t="t" r="r" b="b"/>
              <a:pathLst>
                <a:path w="1527620" h="4114800">
                  <a:moveTo>
                    <a:pt x="0" y="0"/>
                  </a:moveTo>
                  <a:lnTo>
                    <a:pt x="1527619" y="0"/>
                  </a:lnTo>
                  <a:lnTo>
                    <a:pt x="152761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12328" r="-128568" b="-546691"/>
              </a:stretch>
            </a:blip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9106472-6F65-BD28-0CFC-F4EAB059773A}"/>
                </a:ext>
              </a:extLst>
            </p:cNvPr>
            <p:cNvSpPr txBox="1"/>
            <p:nvPr/>
          </p:nvSpPr>
          <p:spPr>
            <a:xfrm>
              <a:off x="1632855" y="3259723"/>
              <a:ext cx="4463145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 b="1" dirty="0">
                  <a:latin typeface="Calibri"/>
                  <a:cs typeface="Calibri"/>
                </a:rPr>
                <a:t>ESP32 / Arduino </a:t>
              </a:r>
              <a:r>
                <a:rPr lang="en-US" sz="1600" dirty="0">
                  <a:latin typeface="Calibri"/>
                  <a:cs typeface="Calibri"/>
                </a:rPr>
                <a:t>– Data processing and control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FB5334A-E333-7099-4930-287CC31F8DC3}"/>
                </a:ext>
              </a:extLst>
            </p:cNvPr>
            <p:cNvSpPr txBox="1"/>
            <p:nvPr/>
          </p:nvSpPr>
          <p:spPr>
            <a:xfrm>
              <a:off x="1632855" y="4043494"/>
              <a:ext cx="446314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Automation Systems </a:t>
              </a:r>
              <a:r>
                <a:rPr lang="en-GB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– Automatic gate operation &amp; alerts</a:t>
              </a:r>
              <a:endParaRPr 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9B3262A-EBC7-70F4-E80B-7105E0186D12}"/>
                </a:ext>
              </a:extLst>
            </p:cNvPr>
            <p:cNvSpPr txBox="1"/>
            <p:nvPr/>
          </p:nvSpPr>
          <p:spPr>
            <a:xfrm>
              <a:off x="1077686" y="1687286"/>
              <a:ext cx="250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B228E7F-45DD-6A92-9B7A-93012225AB45}"/>
                </a:ext>
              </a:extLst>
            </p:cNvPr>
            <p:cNvSpPr txBox="1"/>
            <p:nvPr/>
          </p:nvSpPr>
          <p:spPr>
            <a:xfrm>
              <a:off x="1077686" y="2492829"/>
              <a:ext cx="250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751CB5-990A-59AE-4BA7-0EAD540C8819}"/>
                </a:ext>
              </a:extLst>
            </p:cNvPr>
            <p:cNvSpPr txBox="1"/>
            <p:nvPr/>
          </p:nvSpPr>
          <p:spPr>
            <a:xfrm>
              <a:off x="1088572" y="3280067"/>
              <a:ext cx="250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930CF7E-892C-CA55-823A-B74F5B45E524}"/>
                </a:ext>
              </a:extLst>
            </p:cNvPr>
            <p:cNvSpPr txBox="1"/>
            <p:nvPr/>
          </p:nvSpPr>
          <p:spPr>
            <a:xfrm>
              <a:off x="1088572" y="4124197"/>
              <a:ext cx="250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E56E4BE-594A-6803-2C46-5A2012300497}"/>
                </a:ext>
              </a:extLst>
            </p:cNvPr>
            <p:cNvSpPr txBox="1"/>
            <p:nvPr/>
          </p:nvSpPr>
          <p:spPr>
            <a:xfrm>
              <a:off x="1099458" y="4929740"/>
              <a:ext cx="250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5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EE3407A-4476-B2AB-2B4C-2381F13132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5884" y="1262620"/>
            <a:ext cx="2654479" cy="3116827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D1BDE3-7D7C-42E9-F4EA-59D39CB39F60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8119383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Technical flow diagram 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F68BBE-9827-717C-4F5A-4FE933B28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960" y="1219200"/>
            <a:ext cx="8943035" cy="505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2A749-AB4F-0DC9-D988-50B0D748214A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5660571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Architecture Blueprint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9E6A6F-C532-F745-72C5-A2A66557181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95948" y="717755"/>
            <a:ext cx="9114503" cy="59110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15CB7-81A8-467B-9A1F-9E1B41992678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5660571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Workflow diagram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B5AB98-742D-1881-1545-A5030B9D8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799" y="1044052"/>
            <a:ext cx="9320981" cy="543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86DCB7A6-634A-2780-9E61-89390F578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8BD7FAED-4E8E-17E3-9A26-E47A017A12CD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D52C8353-2CE1-BBD4-C142-0E2ABD1DE801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2C204748-0169-CDFE-7295-AAF53ADE62CE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5CD84464-3DBB-B5B5-C3CB-BDD8C5F71133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CBA93AD7-CD0C-C09C-F0BC-09900B05EDBF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F051060C-A710-029F-D495-EAA70BD5F618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6F353DA-7794-0E7B-DCB9-60A0055758D8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8119383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Screen shots of your project 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1EEC3B-D9A0-9B33-1389-34CDA000D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96" y="1224691"/>
            <a:ext cx="4977408" cy="50636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808362-524C-EC4B-A83E-2C354211B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6893" y="1224691"/>
            <a:ext cx="4650482" cy="5063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713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514A035C-8A2E-6667-0023-E485F12E9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7AE50D9A-117E-5401-2211-C281C1A03C09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F271C4C5-08F9-692A-E911-D3FD3940C932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B0658BC8-34E0-2732-E805-16B4774FE603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B573918D-8CBE-5ABF-318B-77176BDF7638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C3160999-0030-ECB5-E0F0-6260978D46BC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34D05526-EB11-42D6-E456-B730C9E8D6DF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38221CD-A199-5E37-06E7-FFC6CDAAD56C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8119383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Screen shots of your project 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2BA958-13B4-FD79-E219-B951E4EB7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99" y="1818967"/>
            <a:ext cx="4238340" cy="39230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93E16E-794A-CBBC-AA80-7B9B3F106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2383" y="1818967"/>
            <a:ext cx="4739609" cy="392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153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BAC5F37-FC39-28B6-1CB0-135F2372259F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8011885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Role of Agentic AI  and Gen AI in the solution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CE3355-9F7B-BE2E-4A65-CE430FE367E0}"/>
              </a:ext>
            </a:extLst>
          </p:cNvPr>
          <p:cNvSpPr txBox="1"/>
          <p:nvPr/>
        </p:nvSpPr>
        <p:spPr>
          <a:xfrm>
            <a:off x="446315" y="1278194"/>
            <a:ext cx="7360498" cy="3330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800" dirty="0"/>
              <a:t>Agentic AI enables automatic decision-making and control of dam gates and pumps without human intervention.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800" dirty="0"/>
              <a:t>Agentic AI predicts flood risks and structural issues using sensor and historical data.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800" dirty="0"/>
              <a:t>Generative AI converts system data into easy-to-understand alerts and reports for authorities.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416CE90F-71E3-21D0-BA78-91A911323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roup 271">
            <a:extLst>
              <a:ext uri="{FF2B5EF4-FFF2-40B4-BE49-F238E27FC236}">
                <a16:creationId xmlns:a16="http://schemas.microsoft.com/office/drawing/2014/main" id="{5A0F0C55-C4ED-73D3-F786-5FA02ACE6D68}"/>
              </a:ext>
            </a:extLst>
          </p:cNvPr>
          <p:cNvGrpSpPr/>
          <p:nvPr/>
        </p:nvGrpSpPr>
        <p:grpSpPr>
          <a:xfrm>
            <a:off x="359226" y="1257300"/>
            <a:ext cx="11462650" cy="4838700"/>
            <a:chOff x="457200" y="1257300"/>
            <a:chExt cx="11462650" cy="4838700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0A3E513C-EA69-9F5E-4AB9-61B5939A5789}"/>
                </a:ext>
              </a:extLst>
            </p:cNvPr>
            <p:cNvSpPr/>
            <p:nvPr/>
          </p:nvSpPr>
          <p:spPr>
            <a:xfrm>
              <a:off x="1828009" y="2114155"/>
              <a:ext cx="8742020" cy="31219"/>
            </a:xfrm>
            <a:prstGeom prst="line">
              <a:avLst/>
            </a:prstGeom>
            <a:ln w="47625" cap="flat">
              <a:solidFill>
                <a:srgbClr val="8D9193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CD06130-FE37-5A28-174A-727A7CC9FF81}"/>
                </a:ext>
              </a:extLst>
            </p:cNvPr>
            <p:cNvGrpSpPr/>
            <p:nvPr/>
          </p:nvGrpSpPr>
          <p:grpSpPr>
            <a:xfrm>
              <a:off x="1572683" y="2151799"/>
              <a:ext cx="468690" cy="1528270"/>
              <a:chOff x="1779397" y="2456804"/>
              <a:chExt cx="468690" cy="1528270"/>
            </a:xfrm>
          </p:grpSpPr>
          <p:sp>
            <p:nvSpPr>
              <p:cNvPr id="7" name="AutoShape 8">
                <a:extLst>
                  <a:ext uri="{FF2B5EF4-FFF2-40B4-BE49-F238E27FC236}">
                    <a16:creationId xmlns:a16="http://schemas.microsoft.com/office/drawing/2014/main" id="{6F80D0C8-83C8-34E1-8C69-114DE2824A50}"/>
                  </a:ext>
                </a:extLst>
              </p:cNvPr>
              <p:cNvSpPr/>
              <p:nvPr/>
            </p:nvSpPr>
            <p:spPr>
              <a:xfrm flipV="1">
                <a:off x="2013742" y="2456804"/>
                <a:ext cx="0" cy="1296981"/>
              </a:xfrm>
              <a:prstGeom prst="line">
                <a:avLst/>
              </a:prstGeom>
              <a:ln w="47625" cap="flat">
                <a:solidFill>
                  <a:srgbClr val="8D9193"/>
                </a:solidFill>
                <a:prstDash val="sysDot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" name="Group 15">
                <a:extLst>
                  <a:ext uri="{FF2B5EF4-FFF2-40B4-BE49-F238E27FC236}">
                    <a16:creationId xmlns:a16="http://schemas.microsoft.com/office/drawing/2014/main" id="{B7EE4523-D724-BA6A-443F-0290938CC9C4}"/>
                  </a:ext>
                </a:extLst>
              </p:cNvPr>
              <p:cNvGrpSpPr/>
              <p:nvPr/>
            </p:nvGrpSpPr>
            <p:grpSpPr>
              <a:xfrm rot="-10800000">
                <a:off x="1779397" y="3623616"/>
                <a:ext cx="468690" cy="361458"/>
                <a:chOff x="0" y="0"/>
                <a:chExt cx="922188" cy="711200"/>
              </a:xfrm>
            </p:grpSpPr>
            <p:sp>
              <p:nvSpPr>
                <p:cNvPr id="15" name="Freeform 16">
                  <a:extLst>
                    <a:ext uri="{FF2B5EF4-FFF2-40B4-BE49-F238E27FC236}">
                      <a16:creationId xmlns:a16="http://schemas.microsoft.com/office/drawing/2014/main" id="{871B3BBB-F30C-54B1-2CC6-0CED0C2440EF}"/>
                    </a:ext>
                  </a:extLst>
                </p:cNvPr>
                <p:cNvSpPr/>
                <p:nvPr/>
              </p:nvSpPr>
              <p:spPr>
                <a:xfrm>
                  <a:off x="75415" y="89768"/>
                  <a:ext cx="771359" cy="621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359" h="621432">
                      <a:moveTo>
                        <a:pt x="475539" y="48834"/>
                      </a:moveTo>
                      <a:lnTo>
                        <a:pt x="756913" y="482830"/>
                      </a:lnTo>
                      <a:cubicBezTo>
                        <a:pt x="774811" y="510436"/>
                        <a:pt x="776173" y="545621"/>
                        <a:pt x="760464" y="574528"/>
                      </a:cubicBezTo>
                      <a:cubicBezTo>
                        <a:pt x="744754" y="603435"/>
                        <a:pt x="714490" y="621432"/>
                        <a:pt x="681590" y="621432"/>
                      </a:cubicBezTo>
                      <a:lnTo>
                        <a:pt x="89767" y="621432"/>
                      </a:lnTo>
                      <a:cubicBezTo>
                        <a:pt x="56867" y="621432"/>
                        <a:pt x="26604" y="603435"/>
                        <a:pt x="10894" y="574528"/>
                      </a:cubicBezTo>
                      <a:cubicBezTo>
                        <a:pt x="-4815" y="545621"/>
                        <a:pt x="-3453" y="510436"/>
                        <a:pt x="14445" y="482830"/>
                      </a:cubicBezTo>
                      <a:lnTo>
                        <a:pt x="295819" y="48834"/>
                      </a:lnTo>
                      <a:cubicBezTo>
                        <a:pt x="315563" y="18381"/>
                        <a:pt x="349386" y="0"/>
                        <a:pt x="385679" y="0"/>
                      </a:cubicBezTo>
                      <a:cubicBezTo>
                        <a:pt x="421972" y="0"/>
                        <a:pt x="455795" y="18381"/>
                        <a:pt x="475539" y="48834"/>
                      </a:cubicBezTo>
                      <a:close/>
                    </a:path>
                  </a:pathLst>
                </a:custGeom>
                <a:solidFill>
                  <a:srgbClr val="9366E4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" name="TextBox 17">
                  <a:extLst>
                    <a:ext uri="{FF2B5EF4-FFF2-40B4-BE49-F238E27FC236}">
                      <a16:creationId xmlns:a16="http://schemas.microsoft.com/office/drawing/2014/main" id="{30C12B85-4224-F44F-3211-CE60E766CF75}"/>
                    </a:ext>
                  </a:extLst>
                </p:cNvPr>
                <p:cNvSpPr txBox="1"/>
                <p:nvPr/>
              </p:nvSpPr>
              <p:spPr>
                <a:xfrm>
                  <a:off x="144092" y="292100"/>
                  <a:ext cx="634004" cy="3683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</p:grpSp>
        <p:sp>
          <p:nvSpPr>
            <p:cNvPr id="10" name="TextBox 11">
              <a:extLst>
                <a:ext uri="{FF2B5EF4-FFF2-40B4-BE49-F238E27FC236}">
                  <a16:creationId xmlns:a16="http://schemas.microsoft.com/office/drawing/2014/main" id="{DDF31A0C-77BF-EFF2-B1CE-8DA07D90F38C}"/>
                </a:ext>
              </a:extLst>
            </p:cNvPr>
            <p:cNvSpPr txBox="1"/>
            <p:nvPr/>
          </p:nvSpPr>
          <p:spPr>
            <a:xfrm>
              <a:off x="598832" y="4067360"/>
              <a:ext cx="2917136" cy="1399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F3F7E365-9D38-5677-7432-BDFD7217AEB3}"/>
                </a:ext>
              </a:extLst>
            </p:cNvPr>
            <p:cNvGrpSpPr/>
            <p:nvPr/>
          </p:nvGrpSpPr>
          <p:grpSpPr>
            <a:xfrm>
              <a:off x="457200" y="3695947"/>
              <a:ext cx="2656106" cy="2400053"/>
              <a:chOff x="457200" y="3695947"/>
              <a:chExt cx="2656106" cy="2400053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6218766B-427A-8F11-3719-323D25F6AB5B}"/>
                  </a:ext>
                </a:extLst>
              </p:cNvPr>
              <p:cNvSpPr/>
              <p:nvPr/>
            </p:nvSpPr>
            <p:spPr>
              <a:xfrm>
                <a:off x="457200" y="4272889"/>
                <a:ext cx="2656106" cy="1823111"/>
              </a:xfrm>
              <a:prstGeom prst="roundRect">
                <a:avLst>
                  <a:gd name="adj" fmla="val 12163"/>
                </a:avLst>
              </a:prstGeom>
              <a:solidFill>
                <a:srgbClr val="EAE0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2">
                <a:extLst>
                  <a:ext uri="{FF2B5EF4-FFF2-40B4-BE49-F238E27FC236}">
                    <a16:creationId xmlns:a16="http://schemas.microsoft.com/office/drawing/2014/main" id="{85D85324-4782-DA38-3181-939FE970DF09}"/>
                  </a:ext>
                </a:extLst>
              </p:cNvPr>
              <p:cNvGrpSpPr/>
              <p:nvPr/>
            </p:nvGrpSpPr>
            <p:grpSpPr>
              <a:xfrm>
                <a:off x="1415368" y="3695947"/>
                <a:ext cx="739770" cy="739770"/>
                <a:chOff x="0" y="0"/>
                <a:chExt cx="812800" cy="812800"/>
              </a:xfrm>
            </p:grpSpPr>
            <p:sp>
              <p:nvSpPr>
                <p:cNvPr id="12" name="Freeform 13">
                  <a:extLst>
                    <a:ext uri="{FF2B5EF4-FFF2-40B4-BE49-F238E27FC236}">
                      <a16:creationId xmlns:a16="http://schemas.microsoft.com/office/drawing/2014/main" id="{00CE095B-0352-5A86-8F44-BFF62C7F233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9366E4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" name="TextBox 14">
                  <a:extLst>
                    <a:ext uri="{FF2B5EF4-FFF2-40B4-BE49-F238E27FC236}">
                      <a16:creationId xmlns:a16="http://schemas.microsoft.com/office/drawing/2014/main" id="{6B67DE5C-1244-20F1-4D7E-9934E36B209E}"/>
                    </a:ext>
                  </a:extLst>
                </p:cNvPr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71438" tIns="71438" rIns="71438" bIns="71438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  <p:sp>
            <p:nvSpPr>
              <p:cNvPr id="17" name="TextBox 67">
                <a:extLst>
                  <a:ext uri="{FF2B5EF4-FFF2-40B4-BE49-F238E27FC236}">
                    <a16:creationId xmlns:a16="http://schemas.microsoft.com/office/drawing/2014/main" id="{CD1AE653-6650-BECC-9548-2BE815B269AE}"/>
                  </a:ext>
                </a:extLst>
              </p:cNvPr>
              <p:cNvSpPr txBox="1"/>
              <p:nvPr/>
            </p:nvSpPr>
            <p:spPr>
              <a:xfrm>
                <a:off x="529318" y="4683959"/>
                <a:ext cx="2511870" cy="98488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GB" sz="1600" dirty="0">
                    <a:solidFill>
                      <a:srgbClr val="1C1C1A"/>
                    </a:solidFill>
                    <a:latin typeface="Calibri" panose="020F0502020204030204" pitchFamily="34" charset="0"/>
                    <a:ea typeface="Montserrat Ultra-Bold"/>
                    <a:cs typeface="Calibri" panose="020F0502020204030204" pitchFamily="34" charset="0"/>
                    <a:sym typeface="Montserrat Ultra-Bold"/>
                  </a:rPr>
                  <a:t>AI-based crack and intrusion detection using YOLOv5 instead of only sensor-based monitoring.</a:t>
                </a:r>
                <a:endParaRPr lang="en-US" sz="1600" dirty="0">
                  <a:solidFill>
                    <a:srgbClr val="1C1C1A"/>
                  </a:solidFill>
                  <a:latin typeface="Calibri" panose="020F0502020204030204" pitchFamily="34" charset="0"/>
                  <a:ea typeface="Montserrat Ultra-Bold"/>
                  <a:cs typeface="Calibri" panose="020F0502020204030204" pitchFamily="34" charset="0"/>
                  <a:sym typeface="Montserrat Ultra-Bold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FAE7F35-4433-6DDF-4A14-A37E74AEFA32}"/>
                </a:ext>
              </a:extLst>
            </p:cNvPr>
            <p:cNvGrpSpPr/>
            <p:nvPr/>
          </p:nvGrpSpPr>
          <p:grpSpPr>
            <a:xfrm>
              <a:off x="4492478" y="2212351"/>
              <a:ext cx="468690" cy="1456833"/>
              <a:chOff x="5529870" y="3148727"/>
              <a:chExt cx="468690" cy="1456833"/>
            </a:xfrm>
          </p:grpSpPr>
          <p:sp>
            <p:nvSpPr>
              <p:cNvPr id="18" name="AutoShape 19">
                <a:extLst>
                  <a:ext uri="{FF2B5EF4-FFF2-40B4-BE49-F238E27FC236}">
                    <a16:creationId xmlns:a16="http://schemas.microsoft.com/office/drawing/2014/main" id="{68A95C0A-FC90-D1AB-6EBA-A467CFF98295}"/>
                  </a:ext>
                </a:extLst>
              </p:cNvPr>
              <p:cNvSpPr/>
              <p:nvPr/>
            </p:nvSpPr>
            <p:spPr>
              <a:xfrm flipV="1">
                <a:off x="5764215" y="3148727"/>
                <a:ext cx="0" cy="1225543"/>
              </a:xfrm>
              <a:prstGeom prst="line">
                <a:avLst/>
              </a:prstGeom>
              <a:ln w="47625" cap="flat">
                <a:solidFill>
                  <a:srgbClr val="8D9193"/>
                </a:solidFill>
                <a:prstDash val="sysDot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9" name="Group 26">
                <a:extLst>
                  <a:ext uri="{FF2B5EF4-FFF2-40B4-BE49-F238E27FC236}">
                    <a16:creationId xmlns:a16="http://schemas.microsoft.com/office/drawing/2014/main" id="{BE2B2AAE-13AA-22E9-4EDC-059C7905D53A}"/>
                  </a:ext>
                </a:extLst>
              </p:cNvPr>
              <p:cNvGrpSpPr/>
              <p:nvPr/>
            </p:nvGrpSpPr>
            <p:grpSpPr>
              <a:xfrm rot="-10800000">
                <a:off x="5529870" y="4244102"/>
                <a:ext cx="468690" cy="361458"/>
                <a:chOff x="0" y="0"/>
                <a:chExt cx="922188" cy="711200"/>
              </a:xfrm>
            </p:grpSpPr>
            <p:sp>
              <p:nvSpPr>
                <p:cNvPr id="20" name="Freeform 27">
                  <a:extLst>
                    <a:ext uri="{FF2B5EF4-FFF2-40B4-BE49-F238E27FC236}">
                      <a16:creationId xmlns:a16="http://schemas.microsoft.com/office/drawing/2014/main" id="{CDC77F88-3FC2-656B-628D-BEF0198EAB68}"/>
                    </a:ext>
                  </a:extLst>
                </p:cNvPr>
                <p:cNvSpPr/>
                <p:nvPr/>
              </p:nvSpPr>
              <p:spPr>
                <a:xfrm>
                  <a:off x="75415" y="89768"/>
                  <a:ext cx="771359" cy="621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359" h="621432">
                      <a:moveTo>
                        <a:pt x="475539" y="48834"/>
                      </a:moveTo>
                      <a:lnTo>
                        <a:pt x="756913" y="482830"/>
                      </a:lnTo>
                      <a:cubicBezTo>
                        <a:pt x="774811" y="510436"/>
                        <a:pt x="776173" y="545621"/>
                        <a:pt x="760464" y="574528"/>
                      </a:cubicBezTo>
                      <a:cubicBezTo>
                        <a:pt x="744754" y="603435"/>
                        <a:pt x="714490" y="621432"/>
                        <a:pt x="681590" y="621432"/>
                      </a:cubicBezTo>
                      <a:lnTo>
                        <a:pt x="89767" y="621432"/>
                      </a:lnTo>
                      <a:cubicBezTo>
                        <a:pt x="56867" y="621432"/>
                        <a:pt x="26604" y="603435"/>
                        <a:pt x="10894" y="574528"/>
                      </a:cubicBezTo>
                      <a:cubicBezTo>
                        <a:pt x="-4815" y="545621"/>
                        <a:pt x="-3453" y="510436"/>
                        <a:pt x="14445" y="482830"/>
                      </a:cubicBezTo>
                      <a:lnTo>
                        <a:pt x="295819" y="48834"/>
                      </a:lnTo>
                      <a:cubicBezTo>
                        <a:pt x="315563" y="18381"/>
                        <a:pt x="349386" y="0"/>
                        <a:pt x="385679" y="0"/>
                      </a:cubicBezTo>
                      <a:cubicBezTo>
                        <a:pt x="421972" y="0"/>
                        <a:pt x="455795" y="18381"/>
                        <a:pt x="475539" y="48834"/>
                      </a:cubicBezTo>
                      <a:close/>
                    </a:path>
                  </a:pathLst>
                </a:custGeom>
                <a:solidFill>
                  <a:srgbClr val="E46671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TextBox 28">
                  <a:extLst>
                    <a:ext uri="{FF2B5EF4-FFF2-40B4-BE49-F238E27FC236}">
                      <a16:creationId xmlns:a16="http://schemas.microsoft.com/office/drawing/2014/main" id="{B55FB2A9-2596-3DBB-2929-8F12CC8F5F22}"/>
                    </a:ext>
                  </a:extLst>
                </p:cNvPr>
                <p:cNvSpPr txBox="1"/>
                <p:nvPr/>
              </p:nvSpPr>
              <p:spPr>
                <a:xfrm>
                  <a:off x="144092" y="292100"/>
                  <a:ext cx="634004" cy="3683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8680696-E93E-8A90-6DF3-98C1DBB3E7FA}"/>
                </a:ext>
              </a:extLst>
            </p:cNvPr>
            <p:cNvGrpSpPr/>
            <p:nvPr/>
          </p:nvGrpSpPr>
          <p:grpSpPr>
            <a:xfrm>
              <a:off x="7412273" y="2242251"/>
              <a:ext cx="468690" cy="1426933"/>
              <a:chOff x="8910683" y="3178627"/>
              <a:chExt cx="468690" cy="1426933"/>
            </a:xfrm>
          </p:grpSpPr>
          <p:sp>
            <p:nvSpPr>
              <p:cNvPr id="23" name="AutoShape 29">
                <a:extLst>
                  <a:ext uri="{FF2B5EF4-FFF2-40B4-BE49-F238E27FC236}">
                    <a16:creationId xmlns:a16="http://schemas.microsoft.com/office/drawing/2014/main" id="{6F5E88DF-DEE0-A71A-2B00-86098277BB1A}"/>
                  </a:ext>
                </a:extLst>
              </p:cNvPr>
              <p:cNvSpPr/>
              <p:nvPr/>
            </p:nvSpPr>
            <p:spPr>
              <a:xfrm flipH="1" flipV="1">
                <a:off x="9145028" y="3178627"/>
                <a:ext cx="0" cy="1195643"/>
              </a:xfrm>
              <a:prstGeom prst="line">
                <a:avLst/>
              </a:prstGeom>
              <a:ln w="47625" cap="flat">
                <a:solidFill>
                  <a:srgbClr val="8D9193"/>
                </a:solidFill>
                <a:prstDash val="sysDot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4" name="Group 37">
                <a:extLst>
                  <a:ext uri="{FF2B5EF4-FFF2-40B4-BE49-F238E27FC236}">
                    <a16:creationId xmlns:a16="http://schemas.microsoft.com/office/drawing/2014/main" id="{91318B96-C54D-C112-5CFD-EF88CD1C8554}"/>
                  </a:ext>
                </a:extLst>
              </p:cNvPr>
              <p:cNvGrpSpPr/>
              <p:nvPr/>
            </p:nvGrpSpPr>
            <p:grpSpPr>
              <a:xfrm rot="-10800000">
                <a:off x="8910683" y="4244102"/>
                <a:ext cx="468690" cy="361458"/>
                <a:chOff x="0" y="0"/>
                <a:chExt cx="922188" cy="711200"/>
              </a:xfrm>
            </p:grpSpPr>
            <p:sp>
              <p:nvSpPr>
                <p:cNvPr id="25" name="Freeform 38">
                  <a:extLst>
                    <a:ext uri="{FF2B5EF4-FFF2-40B4-BE49-F238E27FC236}">
                      <a16:creationId xmlns:a16="http://schemas.microsoft.com/office/drawing/2014/main" id="{9C450C3B-198E-2F11-B744-A2C58DD010F0}"/>
                    </a:ext>
                  </a:extLst>
                </p:cNvPr>
                <p:cNvSpPr/>
                <p:nvPr/>
              </p:nvSpPr>
              <p:spPr>
                <a:xfrm>
                  <a:off x="75415" y="89768"/>
                  <a:ext cx="771359" cy="621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359" h="621432">
                      <a:moveTo>
                        <a:pt x="475539" y="48834"/>
                      </a:moveTo>
                      <a:lnTo>
                        <a:pt x="756913" y="482830"/>
                      </a:lnTo>
                      <a:cubicBezTo>
                        <a:pt x="774811" y="510436"/>
                        <a:pt x="776173" y="545621"/>
                        <a:pt x="760464" y="574528"/>
                      </a:cubicBezTo>
                      <a:cubicBezTo>
                        <a:pt x="744754" y="603435"/>
                        <a:pt x="714490" y="621432"/>
                        <a:pt x="681590" y="621432"/>
                      </a:cubicBezTo>
                      <a:lnTo>
                        <a:pt x="89767" y="621432"/>
                      </a:lnTo>
                      <a:cubicBezTo>
                        <a:pt x="56867" y="621432"/>
                        <a:pt x="26604" y="603435"/>
                        <a:pt x="10894" y="574528"/>
                      </a:cubicBezTo>
                      <a:cubicBezTo>
                        <a:pt x="-4815" y="545621"/>
                        <a:pt x="-3453" y="510436"/>
                        <a:pt x="14445" y="482830"/>
                      </a:cubicBezTo>
                      <a:lnTo>
                        <a:pt x="295819" y="48834"/>
                      </a:lnTo>
                      <a:cubicBezTo>
                        <a:pt x="315563" y="18381"/>
                        <a:pt x="349386" y="0"/>
                        <a:pt x="385679" y="0"/>
                      </a:cubicBezTo>
                      <a:cubicBezTo>
                        <a:pt x="421972" y="0"/>
                        <a:pt x="455795" y="18381"/>
                        <a:pt x="475539" y="48834"/>
                      </a:cubicBezTo>
                      <a:close/>
                    </a:path>
                  </a:pathLst>
                </a:custGeom>
                <a:solidFill>
                  <a:srgbClr val="38AEB6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TextBox 39">
                  <a:extLst>
                    <a:ext uri="{FF2B5EF4-FFF2-40B4-BE49-F238E27FC236}">
                      <a16:creationId xmlns:a16="http://schemas.microsoft.com/office/drawing/2014/main" id="{53A43635-0848-063B-C694-40304CEEAEEC}"/>
                    </a:ext>
                  </a:extLst>
                </p:cNvPr>
                <p:cNvSpPr txBox="1"/>
                <p:nvPr/>
              </p:nvSpPr>
              <p:spPr>
                <a:xfrm>
                  <a:off x="144092" y="292100"/>
                  <a:ext cx="634004" cy="3683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7A096F7-8B22-4167-154F-CBC8FB0231B8}"/>
                </a:ext>
              </a:extLst>
            </p:cNvPr>
            <p:cNvGrpSpPr/>
            <p:nvPr/>
          </p:nvGrpSpPr>
          <p:grpSpPr>
            <a:xfrm>
              <a:off x="10332067" y="2161060"/>
              <a:ext cx="468690" cy="1508124"/>
              <a:chOff x="9929296" y="2389865"/>
              <a:chExt cx="468690" cy="1508124"/>
            </a:xfrm>
          </p:grpSpPr>
          <p:sp>
            <p:nvSpPr>
              <p:cNvPr id="28" name="AutoShape 40">
                <a:extLst>
                  <a:ext uri="{FF2B5EF4-FFF2-40B4-BE49-F238E27FC236}">
                    <a16:creationId xmlns:a16="http://schemas.microsoft.com/office/drawing/2014/main" id="{7D290BEB-F88F-CC5C-7524-A7F4C4D72E8D}"/>
                  </a:ext>
                </a:extLst>
              </p:cNvPr>
              <p:cNvSpPr/>
              <p:nvPr/>
            </p:nvSpPr>
            <p:spPr>
              <a:xfrm flipV="1">
                <a:off x="10163641" y="2389865"/>
                <a:ext cx="0" cy="1276833"/>
              </a:xfrm>
              <a:prstGeom prst="line">
                <a:avLst/>
              </a:prstGeom>
              <a:ln w="47625" cap="flat">
                <a:solidFill>
                  <a:srgbClr val="8D9193"/>
                </a:solidFill>
                <a:prstDash val="sysDot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" name="Group 48">
                <a:extLst>
                  <a:ext uri="{FF2B5EF4-FFF2-40B4-BE49-F238E27FC236}">
                    <a16:creationId xmlns:a16="http://schemas.microsoft.com/office/drawing/2014/main" id="{2FB08FCA-3538-A4AD-8006-6AD754E8D902}"/>
                  </a:ext>
                </a:extLst>
              </p:cNvPr>
              <p:cNvGrpSpPr/>
              <p:nvPr/>
            </p:nvGrpSpPr>
            <p:grpSpPr>
              <a:xfrm rot="-10800000">
                <a:off x="9929296" y="3536531"/>
                <a:ext cx="468690" cy="361458"/>
                <a:chOff x="0" y="0"/>
                <a:chExt cx="922188" cy="711200"/>
              </a:xfrm>
            </p:grpSpPr>
            <p:sp>
              <p:nvSpPr>
                <p:cNvPr id="30" name="Freeform 49">
                  <a:extLst>
                    <a:ext uri="{FF2B5EF4-FFF2-40B4-BE49-F238E27FC236}">
                      <a16:creationId xmlns:a16="http://schemas.microsoft.com/office/drawing/2014/main" id="{E531DA4E-6D4D-D461-9146-7B8DD697B477}"/>
                    </a:ext>
                  </a:extLst>
                </p:cNvPr>
                <p:cNvSpPr/>
                <p:nvPr/>
              </p:nvSpPr>
              <p:spPr>
                <a:xfrm>
                  <a:off x="75415" y="89768"/>
                  <a:ext cx="771359" cy="621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359" h="621432">
                      <a:moveTo>
                        <a:pt x="475539" y="48834"/>
                      </a:moveTo>
                      <a:lnTo>
                        <a:pt x="756913" y="482830"/>
                      </a:lnTo>
                      <a:cubicBezTo>
                        <a:pt x="774811" y="510436"/>
                        <a:pt x="776173" y="545621"/>
                        <a:pt x="760464" y="574528"/>
                      </a:cubicBezTo>
                      <a:cubicBezTo>
                        <a:pt x="744754" y="603435"/>
                        <a:pt x="714490" y="621432"/>
                        <a:pt x="681590" y="621432"/>
                      </a:cubicBezTo>
                      <a:lnTo>
                        <a:pt x="89767" y="621432"/>
                      </a:lnTo>
                      <a:cubicBezTo>
                        <a:pt x="56867" y="621432"/>
                        <a:pt x="26604" y="603435"/>
                        <a:pt x="10894" y="574528"/>
                      </a:cubicBezTo>
                      <a:cubicBezTo>
                        <a:pt x="-4815" y="545621"/>
                        <a:pt x="-3453" y="510436"/>
                        <a:pt x="14445" y="482830"/>
                      </a:cubicBezTo>
                      <a:lnTo>
                        <a:pt x="295819" y="48834"/>
                      </a:lnTo>
                      <a:cubicBezTo>
                        <a:pt x="315563" y="18381"/>
                        <a:pt x="349386" y="0"/>
                        <a:pt x="385679" y="0"/>
                      </a:cubicBezTo>
                      <a:cubicBezTo>
                        <a:pt x="421972" y="0"/>
                        <a:pt x="455795" y="18381"/>
                        <a:pt x="475539" y="48834"/>
                      </a:cubicBezTo>
                      <a:close/>
                    </a:path>
                  </a:pathLst>
                </a:custGeom>
                <a:solidFill>
                  <a:srgbClr val="DDA707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" name="TextBox 50">
                  <a:extLst>
                    <a:ext uri="{FF2B5EF4-FFF2-40B4-BE49-F238E27FC236}">
                      <a16:creationId xmlns:a16="http://schemas.microsoft.com/office/drawing/2014/main" id="{CE7EDB0A-BC9B-79CB-24BE-2653F5A7A5F1}"/>
                    </a:ext>
                  </a:extLst>
                </p:cNvPr>
                <p:cNvSpPr txBox="1"/>
                <p:nvPr/>
              </p:nvSpPr>
              <p:spPr>
                <a:xfrm>
                  <a:off x="144092" y="292100"/>
                  <a:ext cx="634004" cy="3683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97FD81C-0149-F0F9-B29B-A63A83016ED6}"/>
                </a:ext>
              </a:extLst>
            </p:cNvPr>
            <p:cNvGrpSpPr/>
            <p:nvPr/>
          </p:nvGrpSpPr>
          <p:grpSpPr>
            <a:xfrm>
              <a:off x="3733137" y="1257300"/>
              <a:ext cx="4725725" cy="1431718"/>
              <a:chOff x="0" y="0"/>
              <a:chExt cx="1491632" cy="536090"/>
            </a:xfrm>
          </p:grpSpPr>
          <p:sp>
            <p:nvSpPr>
              <p:cNvPr id="35" name="Freeform 4">
                <a:extLst>
                  <a:ext uri="{FF2B5EF4-FFF2-40B4-BE49-F238E27FC236}">
                    <a16:creationId xmlns:a16="http://schemas.microsoft.com/office/drawing/2014/main" id="{09479399-83E8-2DB1-55BC-B38C11DDA0E3}"/>
                  </a:ext>
                </a:extLst>
              </p:cNvPr>
              <p:cNvSpPr/>
              <p:nvPr/>
            </p:nvSpPr>
            <p:spPr>
              <a:xfrm>
                <a:off x="0" y="0"/>
                <a:ext cx="1491632" cy="536090"/>
              </a:xfrm>
              <a:custGeom>
                <a:avLst/>
                <a:gdLst/>
                <a:ahLst/>
                <a:cxnLst/>
                <a:rect l="l" t="t" r="r" b="b"/>
                <a:pathLst>
                  <a:path w="1491632" h="536090">
                    <a:moveTo>
                      <a:pt x="49148" y="0"/>
                    </a:moveTo>
                    <a:lnTo>
                      <a:pt x="1442485" y="0"/>
                    </a:lnTo>
                    <a:cubicBezTo>
                      <a:pt x="1455519" y="0"/>
                      <a:pt x="1468020" y="5178"/>
                      <a:pt x="1477237" y="14395"/>
                    </a:cubicBezTo>
                    <a:cubicBezTo>
                      <a:pt x="1486454" y="23612"/>
                      <a:pt x="1491632" y="36113"/>
                      <a:pt x="1491632" y="49148"/>
                    </a:cubicBezTo>
                    <a:lnTo>
                      <a:pt x="1491632" y="486943"/>
                    </a:lnTo>
                    <a:cubicBezTo>
                      <a:pt x="1491632" y="514086"/>
                      <a:pt x="1469628" y="536090"/>
                      <a:pt x="1442485" y="536090"/>
                    </a:cubicBezTo>
                    <a:lnTo>
                      <a:pt x="49148" y="536090"/>
                    </a:lnTo>
                    <a:cubicBezTo>
                      <a:pt x="36113" y="536090"/>
                      <a:pt x="23612" y="530912"/>
                      <a:pt x="14395" y="521695"/>
                    </a:cubicBezTo>
                    <a:cubicBezTo>
                      <a:pt x="5178" y="512478"/>
                      <a:pt x="0" y="499977"/>
                      <a:pt x="0" y="486943"/>
                    </a:cubicBezTo>
                    <a:lnTo>
                      <a:pt x="0" y="49148"/>
                    </a:lnTo>
                    <a:cubicBezTo>
                      <a:pt x="0" y="36113"/>
                      <a:pt x="5178" y="23612"/>
                      <a:pt x="14395" y="14395"/>
                    </a:cubicBezTo>
                    <a:cubicBezTo>
                      <a:pt x="23612" y="5178"/>
                      <a:pt x="36113" y="0"/>
                      <a:pt x="49148" y="0"/>
                    </a:cubicBezTo>
                    <a:close/>
                  </a:path>
                </a:pathLst>
              </a:custGeom>
              <a:solidFill>
                <a:srgbClr val="E6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5DA3D8B-B5DD-7653-F378-8E24EC7A7ED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91632" cy="5741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57C4C512-4ECE-6B9E-EE0A-46CC1EE1C694}"/>
                </a:ext>
              </a:extLst>
            </p:cNvPr>
            <p:cNvSpPr/>
            <p:nvPr/>
          </p:nvSpPr>
          <p:spPr>
            <a:xfrm>
              <a:off x="3378200" y="4272889"/>
              <a:ext cx="2656106" cy="1823111"/>
            </a:xfrm>
            <a:prstGeom prst="roundRect">
              <a:avLst>
                <a:gd name="adj" fmla="val 12163"/>
              </a:avLst>
            </a:prstGeom>
            <a:solidFill>
              <a:srgbClr val="FFBE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6" name="Group 12">
              <a:extLst>
                <a:ext uri="{FF2B5EF4-FFF2-40B4-BE49-F238E27FC236}">
                  <a16:creationId xmlns:a16="http://schemas.microsoft.com/office/drawing/2014/main" id="{05D112A7-6BD1-67D3-65D8-FF2E28353C4C}"/>
                </a:ext>
              </a:extLst>
            </p:cNvPr>
            <p:cNvGrpSpPr/>
            <p:nvPr/>
          </p:nvGrpSpPr>
          <p:grpSpPr>
            <a:xfrm>
              <a:off x="4336368" y="3695947"/>
              <a:ext cx="739770" cy="739770"/>
              <a:chOff x="0" y="0"/>
              <a:chExt cx="812800" cy="812800"/>
            </a:xfrm>
          </p:grpSpPr>
          <p:sp>
            <p:nvSpPr>
              <p:cNvPr id="58" name="Freeform 13">
                <a:extLst>
                  <a:ext uri="{FF2B5EF4-FFF2-40B4-BE49-F238E27FC236}">
                    <a16:creationId xmlns:a16="http://schemas.microsoft.com/office/drawing/2014/main" id="{B9857297-281F-4E28-6CA1-D4F6EE50AFA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717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TextBox 14">
                <a:extLst>
                  <a:ext uri="{FF2B5EF4-FFF2-40B4-BE49-F238E27FC236}">
                    <a16:creationId xmlns:a16="http://schemas.microsoft.com/office/drawing/2014/main" id="{221723EC-4D08-BA6D-10A0-D3745F82D13B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algn="ctr">
                  <a:lnSpc>
                    <a:spcPts val="2756"/>
                  </a:lnSpc>
                </a:pPr>
                <a:endParaRPr/>
              </a:p>
            </p:txBody>
          </p:sp>
        </p:grpSp>
        <p:sp>
          <p:nvSpPr>
            <p:cNvPr id="57" name="TextBox 67">
              <a:extLst>
                <a:ext uri="{FF2B5EF4-FFF2-40B4-BE49-F238E27FC236}">
                  <a16:creationId xmlns:a16="http://schemas.microsoft.com/office/drawing/2014/main" id="{0AB801A3-092E-AA3C-1325-8D3A29F9A278}"/>
                </a:ext>
              </a:extLst>
            </p:cNvPr>
            <p:cNvSpPr txBox="1"/>
            <p:nvPr/>
          </p:nvSpPr>
          <p:spPr>
            <a:xfrm>
              <a:off x="3481161" y="4683959"/>
              <a:ext cx="2450184" cy="9848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spcBef>
                  <a:spcPct val="0"/>
                </a:spcBef>
              </a:pPr>
              <a:r>
                <a:rPr lang="en-GB" sz="1600" dirty="0">
                  <a:solidFill>
                    <a:srgbClr val="1C1C1A"/>
                  </a:solidFill>
                  <a:latin typeface="Calibri" panose="020F0502020204030204" pitchFamily="34" charset="0"/>
                  <a:ea typeface="Montserrat Ultra-Bold"/>
                  <a:cs typeface="Calibri" panose="020F0502020204030204" pitchFamily="34" charset="0"/>
                  <a:sym typeface="Montserrat Ultra-Bold"/>
                </a:rPr>
                <a:t>Fully automated dam gate control driven by real-time sensor data and intelligent decision logic.</a:t>
              </a:r>
              <a:endParaRPr lang="en-US" sz="1600" dirty="0">
                <a:solidFill>
                  <a:srgbClr val="1C1C1A"/>
                </a:solidFill>
                <a:latin typeface="Calibri" panose="020F0502020204030204" pitchFamily="34" charset="0"/>
                <a:ea typeface="Montserrat Ultra-Bold"/>
                <a:cs typeface="Calibri" panose="020F0502020204030204" pitchFamily="34" charset="0"/>
                <a:sym typeface="Montserrat Ultra-Bold"/>
              </a:endParaRPr>
            </a:p>
          </p:txBody>
        </p: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1AE630B3-5C58-A2B2-DDEF-E3B80293A1D9}"/>
                </a:ext>
              </a:extLst>
            </p:cNvPr>
            <p:cNvGrpSpPr/>
            <p:nvPr/>
          </p:nvGrpSpPr>
          <p:grpSpPr>
            <a:xfrm>
              <a:off x="6299200" y="3695947"/>
              <a:ext cx="2656106" cy="2400053"/>
              <a:chOff x="6299200" y="3695947"/>
              <a:chExt cx="2656106" cy="2400053"/>
            </a:xfrm>
          </p:grpSpPr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DDD12D05-AB43-5D57-4A54-2E4382BE7029}"/>
                  </a:ext>
                </a:extLst>
              </p:cNvPr>
              <p:cNvSpPr/>
              <p:nvPr/>
            </p:nvSpPr>
            <p:spPr>
              <a:xfrm>
                <a:off x="6299200" y="4272889"/>
                <a:ext cx="2656106" cy="1823111"/>
              </a:xfrm>
              <a:prstGeom prst="roundRect">
                <a:avLst>
                  <a:gd name="adj" fmla="val 12163"/>
                </a:avLst>
              </a:prstGeom>
              <a:solidFill>
                <a:srgbClr val="B5EB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2" name="Group 12">
                <a:extLst>
                  <a:ext uri="{FF2B5EF4-FFF2-40B4-BE49-F238E27FC236}">
                    <a16:creationId xmlns:a16="http://schemas.microsoft.com/office/drawing/2014/main" id="{CE977FBB-2A3F-EA9D-C403-E269865BF7A0}"/>
                  </a:ext>
                </a:extLst>
              </p:cNvPr>
              <p:cNvGrpSpPr/>
              <p:nvPr/>
            </p:nvGrpSpPr>
            <p:grpSpPr>
              <a:xfrm>
                <a:off x="7257368" y="3695947"/>
                <a:ext cx="739770" cy="739770"/>
                <a:chOff x="0" y="0"/>
                <a:chExt cx="812800" cy="812800"/>
              </a:xfrm>
            </p:grpSpPr>
            <p:sp>
              <p:nvSpPr>
                <p:cNvPr id="256" name="Freeform 13">
                  <a:extLst>
                    <a:ext uri="{FF2B5EF4-FFF2-40B4-BE49-F238E27FC236}">
                      <a16:creationId xmlns:a16="http://schemas.microsoft.com/office/drawing/2014/main" id="{F84E8388-7097-537E-A42F-A19963DD601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45CDD7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" name="TextBox 14">
                  <a:extLst>
                    <a:ext uri="{FF2B5EF4-FFF2-40B4-BE49-F238E27FC236}">
                      <a16:creationId xmlns:a16="http://schemas.microsoft.com/office/drawing/2014/main" id="{A85665AF-1AD7-E2AB-4403-E70EF8731BA2}"/>
                    </a:ext>
                  </a:extLst>
                </p:cNvPr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71438" tIns="71438" rIns="71438" bIns="71438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  <p:sp>
            <p:nvSpPr>
              <p:cNvPr id="63" name="TextBox 67">
                <a:extLst>
                  <a:ext uri="{FF2B5EF4-FFF2-40B4-BE49-F238E27FC236}">
                    <a16:creationId xmlns:a16="http://schemas.microsoft.com/office/drawing/2014/main" id="{8EBC4D73-38E9-30E6-95AB-F83325732C60}"/>
                  </a:ext>
                </a:extLst>
              </p:cNvPr>
              <p:cNvSpPr txBox="1"/>
              <p:nvPr/>
            </p:nvSpPr>
            <p:spPr>
              <a:xfrm>
                <a:off x="6400347" y="4683959"/>
                <a:ext cx="2453813" cy="98488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GB" sz="1600" dirty="0">
                    <a:solidFill>
                      <a:srgbClr val="1C1C1A"/>
                    </a:solidFill>
                    <a:latin typeface="Calibri" panose="020F0502020204030204" pitchFamily="34" charset="0"/>
                    <a:ea typeface="Montserrat Ultra-Bold"/>
                    <a:cs typeface="Calibri" panose="020F0502020204030204" pitchFamily="34" charset="0"/>
                    <a:sym typeface="Montserrat Ultra-Bold"/>
                  </a:rPr>
                  <a:t>Integrated monitoring of water level, rainfall, and water quality in a single unified system.</a:t>
                </a:r>
                <a:endParaRPr lang="en-US" sz="1600" dirty="0">
                  <a:solidFill>
                    <a:srgbClr val="1C1C1A"/>
                  </a:solidFill>
                  <a:latin typeface="Calibri" panose="020F0502020204030204" pitchFamily="34" charset="0"/>
                  <a:ea typeface="Montserrat Ultra-Bold"/>
                  <a:cs typeface="Calibri" panose="020F0502020204030204" pitchFamily="34" charset="0"/>
                  <a:sym typeface="Montserrat Ultra-Bold"/>
                </a:endParaRPr>
              </a:p>
            </p:txBody>
          </p:sp>
        </p:grpSp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E6D60434-4316-155A-0818-987A000FFBCF}"/>
                </a:ext>
              </a:extLst>
            </p:cNvPr>
            <p:cNvGrpSpPr/>
            <p:nvPr/>
          </p:nvGrpSpPr>
          <p:grpSpPr>
            <a:xfrm>
              <a:off x="9263744" y="3695947"/>
              <a:ext cx="2656106" cy="2400053"/>
              <a:chOff x="9220200" y="3695947"/>
              <a:chExt cx="2656106" cy="2400053"/>
            </a:xfrm>
          </p:grpSpPr>
          <p:sp>
            <p:nvSpPr>
              <p:cNvPr id="259" name="Rectangle: Rounded Corners 258">
                <a:extLst>
                  <a:ext uri="{FF2B5EF4-FFF2-40B4-BE49-F238E27FC236}">
                    <a16:creationId xmlns:a16="http://schemas.microsoft.com/office/drawing/2014/main" id="{3F4BAC24-ED77-36E4-A157-80391A5CA286}"/>
                  </a:ext>
                </a:extLst>
              </p:cNvPr>
              <p:cNvSpPr/>
              <p:nvPr/>
            </p:nvSpPr>
            <p:spPr>
              <a:xfrm>
                <a:off x="9220200" y="4272889"/>
                <a:ext cx="2656106" cy="1823111"/>
              </a:xfrm>
              <a:prstGeom prst="roundRect">
                <a:avLst>
                  <a:gd name="adj" fmla="val 12163"/>
                </a:avLst>
              </a:prstGeom>
              <a:solidFill>
                <a:srgbClr val="FFE8A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60" name="Group 12">
                <a:extLst>
                  <a:ext uri="{FF2B5EF4-FFF2-40B4-BE49-F238E27FC236}">
                    <a16:creationId xmlns:a16="http://schemas.microsoft.com/office/drawing/2014/main" id="{8B4E89B2-223F-C7D1-2EFC-13C6A7C5AE2A}"/>
                  </a:ext>
                </a:extLst>
              </p:cNvPr>
              <p:cNvGrpSpPr/>
              <p:nvPr/>
            </p:nvGrpSpPr>
            <p:grpSpPr>
              <a:xfrm>
                <a:off x="10178368" y="3695947"/>
                <a:ext cx="739770" cy="739770"/>
                <a:chOff x="0" y="0"/>
                <a:chExt cx="812800" cy="812800"/>
              </a:xfrm>
            </p:grpSpPr>
            <p:sp>
              <p:nvSpPr>
                <p:cNvPr id="262" name="Freeform 13">
                  <a:extLst>
                    <a:ext uri="{FF2B5EF4-FFF2-40B4-BE49-F238E27FC236}">
                      <a16:creationId xmlns:a16="http://schemas.microsoft.com/office/drawing/2014/main" id="{1B5301FD-63F9-66AE-EFC4-70A1A5F54CF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2B300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3" name="TextBox 14">
                  <a:extLst>
                    <a:ext uri="{FF2B5EF4-FFF2-40B4-BE49-F238E27FC236}">
                      <a16:creationId xmlns:a16="http://schemas.microsoft.com/office/drawing/2014/main" id="{E27C0660-7BF6-4D64-7D02-A5DCC3DBEEBA}"/>
                    </a:ext>
                  </a:extLst>
                </p:cNvPr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71438" tIns="71438" rIns="71438" bIns="71438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  <p:sp>
            <p:nvSpPr>
              <p:cNvPr id="261" name="TextBox 67">
                <a:extLst>
                  <a:ext uri="{FF2B5EF4-FFF2-40B4-BE49-F238E27FC236}">
                    <a16:creationId xmlns:a16="http://schemas.microsoft.com/office/drawing/2014/main" id="{91ACEE76-CC5B-17B2-5C4C-3568837A70AE}"/>
                  </a:ext>
                </a:extLst>
              </p:cNvPr>
              <p:cNvSpPr txBox="1"/>
              <p:nvPr/>
            </p:nvSpPr>
            <p:spPr>
              <a:xfrm>
                <a:off x="9345382" y="4683959"/>
                <a:ext cx="2405743" cy="123110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GB" sz="1600" dirty="0">
                    <a:solidFill>
                      <a:srgbClr val="1C1C1A"/>
                    </a:solidFill>
                    <a:latin typeface="Calibri" panose="020F0502020204030204" pitchFamily="34" charset="0"/>
                    <a:ea typeface="Montserrat Ultra-Bold"/>
                    <a:cs typeface="Calibri" panose="020F0502020204030204" pitchFamily="34" charset="0"/>
                    <a:sym typeface="Montserrat Ultra-Bold"/>
                  </a:rPr>
                  <a:t>Instant remote alerts via IoT (Telegram/Wi-Fi) enabling faster emergency response and reduced human dependency.</a:t>
                </a:r>
                <a:endParaRPr lang="en-US" sz="1600" dirty="0">
                  <a:solidFill>
                    <a:srgbClr val="1C1C1A"/>
                  </a:solidFill>
                  <a:latin typeface="Calibri" panose="020F0502020204030204" pitchFamily="34" charset="0"/>
                  <a:ea typeface="Montserrat Ultra-Bold"/>
                  <a:cs typeface="Calibri" panose="020F0502020204030204" pitchFamily="34" charset="0"/>
                  <a:sym typeface="Montserrat Ultra-Bold"/>
                </a:endParaRPr>
              </a:p>
            </p:txBody>
          </p:sp>
        </p:grp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811D45E9-C7B4-655D-8AA7-5D019C706921}"/>
                </a:ext>
              </a:extLst>
            </p:cNvPr>
            <p:cNvSpPr txBox="1"/>
            <p:nvPr/>
          </p:nvSpPr>
          <p:spPr>
            <a:xfrm>
              <a:off x="1611085" y="3842658"/>
              <a:ext cx="348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484C45E9-5698-B4DF-F0E9-EEE2382548E0}"/>
                </a:ext>
              </a:extLst>
            </p:cNvPr>
            <p:cNvSpPr txBox="1"/>
            <p:nvPr/>
          </p:nvSpPr>
          <p:spPr>
            <a:xfrm>
              <a:off x="4528457" y="3864429"/>
              <a:ext cx="348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948D7C18-0C84-065B-11A8-4AD7B0D132B3}"/>
                </a:ext>
              </a:extLst>
            </p:cNvPr>
            <p:cNvSpPr txBox="1"/>
            <p:nvPr/>
          </p:nvSpPr>
          <p:spPr>
            <a:xfrm>
              <a:off x="7500257" y="3831772"/>
              <a:ext cx="348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3BB405DF-0F85-5D98-7321-8788D591BE04}"/>
                </a:ext>
              </a:extLst>
            </p:cNvPr>
            <p:cNvSpPr txBox="1"/>
            <p:nvPr/>
          </p:nvSpPr>
          <p:spPr>
            <a:xfrm>
              <a:off x="10439399" y="3842658"/>
              <a:ext cx="348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71" name="Title 1">
              <a:extLst>
                <a:ext uri="{FF2B5EF4-FFF2-40B4-BE49-F238E27FC236}">
                  <a16:creationId xmlns:a16="http://schemas.microsoft.com/office/drawing/2014/main" id="{3AD084F1-FF05-8B2E-C4EB-73C914FCF854}"/>
                </a:ext>
              </a:extLst>
            </p:cNvPr>
            <p:cNvSpPr txBox="1">
              <a:spLocks/>
            </p:cNvSpPr>
            <p:nvPr/>
          </p:nvSpPr>
          <p:spPr>
            <a:xfrm>
              <a:off x="4005942" y="1638302"/>
              <a:ext cx="4180114" cy="46166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-US" sz="3000" b="1">
                  <a:solidFill>
                    <a:schemeClr val="bg1"/>
                  </a:solidFill>
                  <a:latin typeface="Vodafone Rg" panose="020B0606080202020204" pitchFamily="34" charset="0"/>
                </a:rPr>
                <a:t>Novelty and Uniqueness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5342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9BC41-7A97-431A-4BB9-3A57BC031021}"/>
              </a:ext>
            </a:extLst>
          </p:cNvPr>
          <p:cNvSpPr txBox="1">
            <a:spLocks/>
          </p:cNvSpPr>
          <p:nvPr/>
        </p:nvSpPr>
        <p:spPr>
          <a:xfrm>
            <a:off x="845574" y="1044505"/>
            <a:ext cx="8011885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 dirty="0">
                <a:solidFill>
                  <a:srgbClr val="A20000"/>
                </a:solidFill>
                <a:latin typeface="Vodafone Rg" panose="020B0606080202020204" pitchFamily="34" charset="0"/>
              </a:rPr>
              <a:t>Git Hub Link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6478C-CE45-FCFB-21BF-5D0727E5130F}"/>
              </a:ext>
            </a:extLst>
          </p:cNvPr>
          <p:cNvSpPr txBox="1"/>
          <p:nvPr/>
        </p:nvSpPr>
        <p:spPr>
          <a:xfrm>
            <a:off x="776748" y="1779639"/>
            <a:ext cx="5702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3"/>
              </a:rPr>
              <a:t>https://github.com/SHREYA200489/AI-ENABLED-DAM-AUTOMATION-SYSTEM.git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1D050-BEFF-4AF9-79A5-9F5496DE1969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8011885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Future Scope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BCF320-1262-D366-3F69-0E93E3AFB53A}"/>
              </a:ext>
            </a:extLst>
          </p:cNvPr>
          <p:cNvSpPr txBox="1"/>
          <p:nvPr/>
        </p:nvSpPr>
        <p:spPr>
          <a:xfrm>
            <a:off x="446315" y="1258529"/>
            <a:ext cx="5324115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Predictive flood forecasting using advanced machine learning models.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Satellite and drone integration for large-scale dam and catchment monitoring.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twin of the dam for simulation and risk analysis.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Multi-dam network monitoring through a centralized cloud platform.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Edge AI deployment for faster, offline decision-making and improved reliability.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374A2C-0CF9-51FA-1A03-14B3E1416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569" y="953729"/>
            <a:ext cx="5324116" cy="338229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2166F986-3C94-C86A-E81E-498FB58B0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F5A38-60B6-4F88-EEC5-02B5D33CB8F2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8011885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Bank Details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0FD0F6-17FE-ABF1-7D8E-4A204CDDE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21253"/>
              </p:ext>
            </p:extLst>
          </p:nvPr>
        </p:nvGraphicFramePr>
        <p:xfrm>
          <a:off x="457200" y="1257300"/>
          <a:ext cx="11264628" cy="1899920"/>
        </p:xfrm>
        <a:graphic>
          <a:graphicData uri="http://schemas.openxmlformats.org/drawingml/2006/table">
            <a:tbl>
              <a:tblPr firstRow="1" bandRow="1">
                <a:tableStyleId>{0AAD8F4D-43EB-41E5-8A38-28AB6DFB1B60}</a:tableStyleId>
              </a:tblPr>
              <a:tblGrid>
                <a:gridCol w="1877438">
                  <a:extLst>
                    <a:ext uri="{9D8B030D-6E8A-4147-A177-3AD203B41FA5}">
                      <a16:colId xmlns:a16="http://schemas.microsoft.com/office/drawing/2014/main" val="276395733"/>
                    </a:ext>
                  </a:extLst>
                </a:gridCol>
                <a:gridCol w="1877438">
                  <a:extLst>
                    <a:ext uri="{9D8B030D-6E8A-4147-A177-3AD203B41FA5}">
                      <a16:colId xmlns:a16="http://schemas.microsoft.com/office/drawing/2014/main" val="68367769"/>
                    </a:ext>
                  </a:extLst>
                </a:gridCol>
                <a:gridCol w="1877438">
                  <a:extLst>
                    <a:ext uri="{9D8B030D-6E8A-4147-A177-3AD203B41FA5}">
                      <a16:colId xmlns:a16="http://schemas.microsoft.com/office/drawing/2014/main" val="3364172202"/>
                    </a:ext>
                  </a:extLst>
                </a:gridCol>
                <a:gridCol w="1877438">
                  <a:extLst>
                    <a:ext uri="{9D8B030D-6E8A-4147-A177-3AD203B41FA5}">
                      <a16:colId xmlns:a16="http://schemas.microsoft.com/office/drawing/2014/main" val="3594999873"/>
                    </a:ext>
                  </a:extLst>
                </a:gridCol>
                <a:gridCol w="1877438">
                  <a:extLst>
                    <a:ext uri="{9D8B030D-6E8A-4147-A177-3AD203B41FA5}">
                      <a16:colId xmlns:a16="http://schemas.microsoft.com/office/drawing/2014/main" val="3962065889"/>
                    </a:ext>
                  </a:extLst>
                </a:gridCol>
                <a:gridCol w="1877438">
                  <a:extLst>
                    <a:ext uri="{9D8B030D-6E8A-4147-A177-3AD203B41FA5}">
                      <a16:colId xmlns:a16="http://schemas.microsoft.com/office/drawing/2014/main" val="1446855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Name (as per bank records):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Bank Name</a:t>
                      </a:r>
                      <a:endParaRPr lang="en-US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Branch Name</a:t>
                      </a:r>
                      <a:endParaRPr lang="en-US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Account Number</a:t>
                      </a:r>
                      <a:endParaRPr lang="en-US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Account Type (Savings / Current)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IFSC Code</a:t>
                      </a:r>
                      <a:endParaRPr lang="en-US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502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SHREYA GALI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HDFC BANK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VIDYARANYAPURA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50100688134091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SAVINGS ACCOUNT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HDFC0001569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84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RAKSHITHA G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UCO BANK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JALAHALLI, H.M.T ESTATE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02020110035337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SAVINGS ACCOUNT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UCBA0000202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549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SPURTHI N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BANK OF BARODA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DASARAHALLI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89310100038717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SAVINGS ACCOUNT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BARB0VJDAHA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317222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DC4C51AD-861B-F0A7-9A34-F890EFD7A498}"/>
              </a:ext>
            </a:extLst>
          </p:cNvPr>
          <p:cNvGrpSpPr/>
          <p:nvPr/>
        </p:nvGrpSpPr>
        <p:grpSpPr>
          <a:xfrm>
            <a:off x="419657" y="3418267"/>
            <a:ext cx="11302170" cy="2817598"/>
            <a:chOff x="419657" y="3418267"/>
            <a:chExt cx="11302170" cy="281759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01B849-0B51-4A54-09A7-A7F17BA2BA49}"/>
                </a:ext>
              </a:extLst>
            </p:cNvPr>
            <p:cNvGrpSpPr/>
            <p:nvPr/>
          </p:nvGrpSpPr>
          <p:grpSpPr>
            <a:xfrm>
              <a:off x="593389" y="5804978"/>
              <a:ext cx="11030060" cy="430887"/>
              <a:chOff x="593389" y="5804978"/>
              <a:chExt cx="11030060" cy="430887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D788107-B3A1-7F7D-432E-A4048656C530}"/>
                  </a:ext>
                </a:extLst>
              </p:cNvPr>
              <p:cNvSpPr txBox="1"/>
              <p:nvPr/>
            </p:nvSpPr>
            <p:spPr>
              <a:xfrm>
                <a:off x="593389" y="5804978"/>
                <a:ext cx="312766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b="1" dirty="0"/>
                  <a:t>Team Member 1</a:t>
                </a:r>
                <a:br>
                  <a:rPr lang="en-US" sz="1100" b="1" dirty="0"/>
                </a:br>
                <a:r>
                  <a:rPr lang="en-US" sz="1100" dirty="0"/>
                  <a:t>Passbook : SHREYA GALI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AA0C9B-B378-AB3E-52B3-2DF338D8B0B5}"/>
                  </a:ext>
                </a:extLst>
              </p:cNvPr>
              <p:cNvSpPr txBox="1"/>
              <p:nvPr/>
            </p:nvSpPr>
            <p:spPr>
              <a:xfrm>
                <a:off x="4544588" y="5804978"/>
                <a:ext cx="312766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b="1" dirty="0"/>
                  <a:t>Team Member 2</a:t>
                </a:r>
                <a:br>
                  <a:rPr lang="en-US" sz="1100" b="1" dirty="0"/>
                </a:br>
                <a:r>
                  <a:rPr lang="en-US" sz="1100" dirty="0"/>
                  <a:t>Passbook : RAKSHITHA G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FBE0B7-6FC9-AEAD-9981-E33461699CF8}"/>
                  </a:ext>
                </a:extLst>
              </p:cNvPr>
              <p:cNvSpPr txBox="1"/>
              <p:nvPr/>
            </p:nvSpPr>
            <p:spPr>
              <a:xfrm>
                <a:off x="8495786" y="5804978"/>
                <a:ext cx="312766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b="1" dirty="0"/>
                  <a:t>Team Member 3</a:t>
                </a:r>
                <a:br>
                  <a:rPr lang="en-US" sz="1100" b="1" dirty="0"/>
                </a:br>
                <a:r>
                  <a:rPr lang="en-US" sz="1100" dirty="0"/>
                  <a:t>Passbook : SPURTHI N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60E05AD-BA99-94A1-3C7A-15C10A72B22C}"/>
                </a:ext>
              </a:extLst>
            </p:cNvPr>
            <p:cNvGrpSpPr/>
            <p:nvPr/>
          </p:nvGrpSpPr>
          <p:grpSpPr>
            <a:xfrm>
              <a:off x="419657" y="3418267"/>
              <a:ext cx="11302170" cy="2218218"/>
              <a:chOff x="419657" y="3418267"/>
              <a:chExt cx="11302170" cy="2218218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87F93F3D-FC83-53FE-2AEE-9566DD5242D6}"/>
                  </a:ext>
                </a:extLst>
              </p:cNvPr>
              <p:cNvSpPr/>
              <p:nvPr/>
            </p:nvSpPr>
            <p:spPr>
              <a:xfrm>
                <a:off x="419657" y="3429000"/>
                <a:ext cx="3574374" cy="2196753"/>
              </a:xfrm>
              <a:prstGeom prst="roundRect">
                <a:avLst>
                  <a:gd name="adj" fmla="val 8078"/>
                </a:avLst>
              </a:prstGeom>
              <a:solidFill>
                <a:schemeClr val="bg1"/>
              </a:solidFill>
              <a:ln>
                <a:solidFill>
                  <a:srgbClr val="E6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430A3EE3-5A8A-BFF9-D978-247718EB408E}"/>
                  </a:ext>
                </a:extLst>
              </p:cNvPr>
              <p:cNvSpPr/>
              <p:nvPr/>
            </p:nvSpPr>
            <p:spPr>
              <a:xfrm>
                <a:off x="4222607" y="3429000"/>
                <a:ext cx="3574374" cy="2207485"/>
              </a:xfrm>
              <a:prstGeom prst="roundRect">
                <a:avLst>
                  <a:gd name="adj" fmla="val 8078"/>
                </a:avLst>
              </a:prstGeom>
              <a:solidFill>
                <a:schemeClr val="bg1"/>
              </a:solidFill>
              <a:ln>
                <a:solidFill>
                  <a:srgbClr val="E6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A77687DA-23EE-879D-DD4F-FCD610ADC41A}"/>
                  </a:ext>
                </a:extLst>
              </p:cNvPr>
              <p:cNvSpPr/>
              <p:nvPr/>
            </p:nvSpPr>
            <p:spPr>
              <a:xfrm>
                <a:off x="7969394" y="3418267"/>
                <a:ext cx="3752433" cy="2196753"/>
              </a:xfrm>
              <a:prstGeom prst="roundRect">
                <a:avLst>
                  <a:gd name="adj" fmla="val 8078"/>
                </a:avLst>
              </a:prstGeom>
              <a:solidFill>
                <a:schemeClr val="bg1"/>
              </a:solidFill>
              <a:ln>
                <a:solidFill>
                  <a:srgbClr val="E6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AEB0B7DF-E529-F7C7-DFDD-E421A0155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82" y="3498012"/>
            <a:ext cx="3466924" cy="20787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4350C11-9202-53FD-586E-6D7C872ED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338" y="3499805"/>
            <a:ext cx="3466911" cy="20751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BEB4F3-CBD6-F939-961C-7BB8923A48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8807115" y="2682431"/>
            <a:ext cx="2076990" cy="366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6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EAF80-7103-487F-A54B-15BEEE256378}"/>
              </a:ext>
            </a:extLst>
          </p:cNvPr>
          <p:cNvSpPr txBox="1">
            <a:spLocks/>
          </p:cNvSpPr>
          <p:nvPr/>
        </p:nvSpPr>
        <p:spPr>
          <a:xfrm>
            <a:off x="3952195" y="3044279"/>
            <a:ext cx="4287610" cy="7694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>
                <a:solidFill>
                  <a:srgbClr val="A20000"/>
                </a:solidFill>
                <a:latin typeface="Vodafone Rg" panose="020B0606080202020204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ontent Body Sli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ontent Body Part_Interna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692</Words>
  <Application>Microsoft Office PowerPoint</Application>
  <PresentationFormat>Widescreen</PresentationFormat>
  <Paragraphs>101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Aptos</vt:lpstr>
      <vt:lpstr>Arial</vt:lpstr>
      <vt:lpstr>Calibri</vt:lpstr>
      <vt:lpstr>Times New Roman</vt:lpstr>
      <vt:lpstr>Vodafone Rg</vt:lpstr>
      <vt:lpstr>Wingdings</vt:lpstr>
      <vt:lpstr>Blank</vt:lpstr>
      <vt:lpstr>Content Body Slide</vt:lpstr>
      <vt:lpstr>Content Body Part_Internal</vt:lpstr>
      <vt:lpstr>PowerPoint Presentation</vt:lpstr>
      <vt:lpstr>Project Title :   AI ENABLED DAM                        AUTOMATION SYSTEM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Pragathi Yuki</cp:lastModifiedBy>
  <cp:revision>137</cp:revision>
  <dcterms:created xsi:type="dcterms:W3CDTF">2025-07-08T05:06:56Z</dcterms:created>
  <dcterms:modified xsi:type="dcterms:W3CDTF">2026-02-07T19:54:39Z</dcterms:modified>
</cp:coreProperties>
</file>